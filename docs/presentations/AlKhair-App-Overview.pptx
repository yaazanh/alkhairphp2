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DCDD-A965-4354-85E3-BFB855D2D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10FDE-6117-4567-9EEC-55B1AE922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87BFF-9B8C-46C3-ABCE-8B0A954A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66D1D-0247-4B23-A8EA-98CE910C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C2BF7-6058-429F-B41A-DAC7DE74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55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2DA0-57A3-4C71-A347-2375A09B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EDF2-F239-435E-B161-B29CC227A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B3961-3304-4532-AD70-E379CA97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D0A7A-BEEA-4F41-9222-DB66427D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4B6B8-942A-4126-875C-2221C6FC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5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19F0-3AEC-49B7-B68A-09FCA5EB1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5D131-E91A-43CE-A108-E323D95C0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D7B84-34F5-4051-A7EA-B39A87B0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1BA4D-4E37-4FC2-B9F0-BC73518FB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A6379-D05D-4A9A-BAB8-5F489572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5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464D-6794-4031-B545-4DFEFD938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037AA-E7F6-412D-A6F1-C5E91D9E2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D8777-FE79-4AEF-88A4-E16A9DEC5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2BBD3-067F-4673-99A9-82B95B69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E26B6-1FED-4B29-A955-58E66267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82842-0023-4A24-ABE9-4322F55A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1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7D89-F8FD-430A-971C-B5DC092F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2A23A-6A52-4BC8-B8F6-58F86D963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5C438-AF7F-4A49-87E3-5C4886667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59A71-D10C-4E1B-9850-1FB14DDA2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94E4EB-4A2F-4DB7-9DB8-4A7ADE463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6E35E-D54C-4107-A1E8-77E790A45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57BF2-4B9A-4848-ABA7-0711D78B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27BC1-B561-41B7-8C25-3AF2EF52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6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FA48-FE2C-44A0-8964-BF8E54D7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641E50-BD63-4B4D-9C4B-9B0559B7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EF24A-6AA0-4940-8721-209BD12C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2BF9-392B-4BB1-999E-17A91547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54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01E1B-56AA-442F-9A2E-6D6083C0E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C50DE0-D7B9-428A-BEC0-3CED7F0F1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EDC87-DF8D-4886-A5CB-ED459887E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42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1F78-CD45-4736-BBAB-31AB200F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47315-F139-47C7-8D3E-19FC1ECE0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10C2D-B19E-4CCE-891F-6FF238657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69776-699E-4F92-A147-C84B00C1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C5C61-F51B-4364-BB6A-F4B2EC29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D65B1-B569-4CE1-871A-1E7DE0CC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7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4752-D1B6-4F8E-A6C1-88C8C57BF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B59B8-6E59-4457-B989-0F856EF99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1E7E6-6E92-4B39-AB8E-8661D7632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2D0DA-F0EF-4579-81C8-2AD3A1B2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14150-6C57-4895-B603-1D5D80D61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23E8B-993B-43A8-9AC4-3E5E9B9A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9C38-E98A-4F0A-BDB3-32D53CDA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4D531-78CC-4D56-BF8B-7CC98C017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EBC84-F267-4568-8071-1F80D4BB2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4533-8402-4079-8740-941A808D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A545D-1ECB-4C43-AE88-3F584F79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6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12FFA9-F629-418F-877E-07B341E0C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76B2F-8332-4C12-B8B3-3B618C513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F155-0E21-405B-B200-7BB14995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3F50E-437A-4844-A126-20431387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1CEF-F403-4C27-9587-3D5F17CD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FE7D43-5AD0-4A01-B5B3-51B922D6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14ABE-6E23-49D5-A396-6429F24AD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55346-761A-4FBD-9D9B-9DD14ED1C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7C336-A562-461D-91FF-117DFFF4829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30877-B201-444C-80B5-59744C2E6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827C6-B3B9-4E82-B6F4-1E732F5BC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7EE70-573F-4DC7-997C-78848C5F0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90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B4856-35D0-47D7-8272-52ECD654D4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7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FCF7C9-E994-4096-8986-D978D285DDE1}"/>
              </a:ext>
            </a:extLst>
          </p:cNvPr>
          <p:cNvSpPr/>
          <p:nvPr/>
        </p:nvSpPr>
        <p:spPr>
          <a:xfrm>
            <a:off x="6604000" y="0"/>
            <a:ext cx="5588000" cy="6858000"/>
          </a:xfrm>
          <a:prstGeom prst="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A264B-094B-4C8E-BC37-AF3EEF7CFAB5}"/>
              </a:ext>
            </a:extLst>
          </p:cNvPr>
          <p:cNvSpPr/>
          <p:nvPr/>
        </p:nvSpPr>
        <p:spPr>
          <a:xfrm>
            <a:off x="457200" y="457200"/>
            <a:ext cx="228600" cy="5334000"/>
          </a:xfrm>
          <a:prstGeom prst="rect">
            <a:avLst/>
          </a:prstGeom>
          <a:solidFill>
            <a:srgbClr val="BB974E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17E730-3C20-43FB-A82B-15129910F4FC}"/>
              </a:ext>
            </a:extLst>
          </p:cNvPr>
          <p:cNvSpPr/>
          <p:nvPr/>
        </p:nvSpPr>
        <p:spPr>
          <a:xfrm>
            <a:off x="6096000" y="533400"/>
            <a:ext cx="5410200" cy="5562600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30679-FC5C-497D-A7A1-EE9D96A1E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098" y="2211070"/>
            <a:ext cx="2708203" cy="20294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FAE919-5408-4535-A327-42F75DACB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070" y="1170470"/>
            <a:ext cx="199061" cy="199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0D1DD8-F310-4EC6-AD34-A9D59B7A3455}"/>
              </a:ext>
            </a:extLst>
          </p:cNvPr>
          <p:cNvSpPr txBox="1"/>
          <p:nvPr/>
        </p:nvSpPr>
        <p:spPr>
          <a:xfrm>
            <a:off x="787400" y="2108200"/>
            <a:ext cx="4699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Bahnschrift SemiBold" panose="020B0502040204020203" pitchFamily="34" charset="0"/>
              </a:rPr>
              <a:t>AlKhair App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BD33E9-DFF4-464A-8E98-432B1677CD8E}"/>
              </a:ext>
            </a:extLst>
          </p:cNvPr>
          <p:cNvSpPr txBox="1"/>
          <p:nvPr/>
        </p:nvSpPr>
        <p:spPr>
          <a:xfrm>
            <a:off x="787400" y="2870200"/>
            <a:ext cx="4572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>
                <a:solidFill>
                  <a:srgbClr val="F5F1E8"/>
                </a:solidFill>
                <a:latin typeface="Aptos"/>
              </a:rPr>
              <a:t>A management platform for Quran education, community operations, and finance.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3FAF18-A39A-4DC2-8208-1432EBF4B155}"/>
              </a:ext>
            </a:extLst>
          </p:cNvPr>
          <p:cNvSpPr txBox="1"/>
          <p:nvPr/>
        </p:nvSpPr>
        <p:spPr>
          <a:xfrm>
            <a:off x="787400" y="4064000"/>
            <a:ext cx="4572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250">
                <a:solidFill>
                  <a:srgbClr val="E8F2EC"/>
                </a:solidFill>
                <a:latin typeface="Aptos"/>
              </a:rPr>
              <a:t>Built from the current Laravel 12 + Livewire codebase in AlKhairPhp.</a:t>
            </a:r>
          </a:p>
          <a:p>
            <a:r>
              <a:rPr lang="en-US" sz="1250">
                <a:solidFill>
                  <a:srgbClr val="E8F2EC"/>
                </a:solidFill>
                <a:latin typeface="Aptos"/>
              </a:rPr>
              <a:t>Focus: students, memorization, operations, and reporting.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932E9C-8AF3-40EB-8562-9985AD4B55BB}"/>
              </a:ext>
            </a:extLst>
          </p:cNvPr>
          <p:cNvSpPr/>
          <p:nvPr/>
        </p:nvSpPr>
        <p:spPr>
          <a:xfrm>
            <a:off x="787400" y="5130800"/>
            <a:ext cx="2997200" cy="558800"/>
          </a:xfrm>
          <a:prstGeom prst="roundRect">
            <a:avLst/>
          </a:prstGeom>
          <a:solidFill>
            <a:srgbClr val="0B8F43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B167F-2106-4A66-B106-4F875288B730}"/>
              </a:ext>
            </a:extLst>
          </p:cNvPr>
          <p:cNvSpPr txBox="1"/>
          <p:nvPr/>
        </p:nvSpPr>
        <p:spPr>
          <a:xfrm>
            <a:off x="939800" y="5245100"/>
            <a:ext cx="2717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Bahnschrift SemiBold" panose="020B0502040204020203" pitchFamily="34" charset="0"/>
              </a:rPr>
              <a:t>Presentation overview deck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5DBF3A-017B-46BF-80DE-C6AEED491AFB}"/>
              </a:ext>
            </a:extLst>
          </p:cNvPr>
          <p:cNvSpPr txBox="1"/>
          <p:nvPr/>
        </p:nvSpPr>
        <p:spPr>
          <a:xfrm>
            <a:off x="533400" y="6438900"/>
            <a:ext cx="5334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900">
                <a:solidFill>
                  <a:srgbClr val="59685B"/>
                </a:solidFill>
                <a:latin typeface="Aptos"/>
              </a:rPr>
              <a:t>Generated from the current AlKhairPhp codebase | 2026-05-14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5361D1-27C2-41B6-903E-AA9C2CDF8F5F}"/>
              </a:ext>
            </a:extLst>
          </p:cNvPr>
          <p:cNvSpPr txBox="1"/>
          <p:nvPr/>
        </p:nvSpPr>
        <p:spPr>
          <a:xfrm>
            <a:off x="10668000" y="6426200"/>
            <a:ext cx="101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r"/>
            <a:r>
              <a:rPr lang="en-US" sz="1000">
                <a:solidFill>
                  <a:srgbClr val="006B2D"/>
                </a:solidFill>
                <a:latin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503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A5EBCB-0E94-416B-879F-FA52086159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614FE-5198-4183-8C2C-0FD2BE618D8F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0047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6E1556-49C4-487C-8FAA-9CC44CCA0921}"/>
              </a:ext>
            </a:extLst>
          </p:cNvPr>
          <p:cNvSpPr/>
          <p:nvPr/>
        </p:nvSpPr>
        <p:spPr>
          <a:xfrm>
            <a:off x="0" y="939800"/>
            <a:ext cx="12192000" cy="101600"/>
          </a:xfrm>
          <a:prstGeom prst="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7428C7-1D79-4F02-9A73-5B4C55B1A8D7}"/>
              </a:ext>
            </a:extLst>
          </p:cNvPr>
          <p:cNvSpPr/>
          <p:nvPr/>
        </p:nvSpPr>
        <p:spPr>
          <a:xfrm>
            <a:off x="9601200" y="330200"/>
            <a:ext cx="1981200" cy="279400"/>
          </a:xfrm>
          <a:prstGeom prst="roundRect">
            <a:avLst/>
          </a:prstGeom>
          <a:solidFill>
            <a:srgbClr val="0B8F43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CD18EC-0898-450D-BE6E-75B5A06AAD47}"/>
              </a:ext>
            </a:extLst>
          </p:cNvPr>
          <p:cNvSpPr txBox="1"/>
          <p:nvPr/>
        </p:nvSpPr>
        <p:spPr>
          <a:xfrm>
            <a:off x="533400" y="228600"/>
            <a:ext cx="228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00">
                <a:solidFill>
                  <a:srgbClr val="E8F2EC"/>
                </a:solidFill>
                <a:latin typeface="Aptos"/>
              </a:rPr>
              <a:t>Product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B29EEC-58FA-45A7-A479-C8B7806F244A}"/>
              </a:ext>
            </a:extLst>
          </p:cNvPr>
          <p:cNvSpPr txBox="1"/>
          <p:nvPr/>
        </p:nvSpPr>
        <p:spPr>
          <a:xfrm>
            <a:off x="533400" y="381000"/>
            <a:ext cx="7493000" cy="381000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What the app mainly does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E6576-4018-4F46-BF2D-2EA6DEF4BD51}"/>
              </a:ext>
            </a:extLst>
          </p:cNvPr>
          <p:cNvSpPr txBox="1"/>
          <p:nvPr/>
        </p:nvSpPr>
        <p:spPr>
          <a:xfrm>
            <a:off x="533400" y="1092200"/>
            <a:ext cx="8128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200">
                <a:solidFill>
                  <a:srgbClr val="59685B"/>
                </a:solidFill>
                <a:latin typeface="Aptos"/>
              </a:rPr>
              <a:t>The current repository implements a single system for running the daily academic and administrative workflow of AlKhair.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5CBCB6-9EC4-46D1-BBC7-2D27FD247791}"/>
              </a:ext>
            </a:extLst>
          </p:cNvPr>
          <p:cNvSpPr/>
          <p:nvPr/>
        </p:nvSpPr>
        <p:spPr>
          <a:xfrm>
            <a:off x="533400" y="1727200"/>
            <a:ext cx="5232400" cy="353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0672B-351E-4305-8011-E3764F445F07}"/>
              </a:ext>
            </a:extLst>
          </p:cNvPr>
          <p:cNvSpPr txBox="1"/>
          <p:nvPr/>
        </p:nvSpPr>
        <p:spPr>
          <a:xfrm>
            <a:off x="838200" y="2032000"/>
            <a:ext cx="4572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900" b="1">
                <a:solidFill>
                  <a:srgbClr val="006B2D"/>
                </a:solidFill>
                <a:latin typeface="Bahnschrift SemiBold" panose="020B0502040204020203" pitchFamily="34" charset="0"/>
              </a:rPr>
              <a:t>Main functionality: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7DAB6-1CD7-4360-BBFB-73C468CA6341}"/>
              </a:ext>
            </a:extLst>
          </p:cNvPr>
          <p:cNvSpPr txBox="1"/>
          <p:nvPr/>
        </p:nvSpPr>
        <p:spPr>
          <a:xfrm>
            <a:off x="838200" y="2489200"/>
            <a:ext cx="4445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400">
                <a:solidFill>
                  <a:srgbClr val="223022"/>
                </a:solidFill>
                <a:latin typeface="Aptos"/>
              </a:rPr>
              <a:t>Run the end-to-end operations of a Quran and mosque education center in one place.</a:t>
            </a:r>
          </a:p>
          <a:p>
            <a:endParaRPr lang="en-US" sz="1400">
              <a:solidFill>
                <a:srgbClr val="223022"/>
              </a:solidFill>
              <a:latin typeface="Aptos"/>
            </a:endParaRP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- People and access</a:t>
            </a: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- Teaching groups and enrollments</a:t>
            </a: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- Daily learning and attendance tracking</a:t>
            </a: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- Family billing, activities, and finance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8EF772-FF15-44CE-ABDC-07DDD4EDC0DD}"/>
              </a:ext>
            </a:extLst>
          </p:cNvPr>
          <p:cNvSpPr/>
          <p:nvPr/>
        </p:nvSpPr>
        <p:spPr>
          <a:xfrm>
            <a:off x="6172200" y="1727200"/>
            <a:ext cx="5461000" cy="3530600"/>
          </a:xfrm>
          <a:prstGeom prst="roundRect">
            <a:avLst/>
          </a:prstGeom>
          <a:solidFill>
            <a:srgbClr val="E8F2EC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ED0A7A-8557-453C-A984-135407ECCA67}"/>
              </a:ext>
            </a:extLst>
          </p:cNvPr>
          <p:cNvSpPr txBox="1"/>
          <p:nvPr/>
        </p:nvSpPr>
        <p:spPr>
          <a:xfrm>
            <a:off x="6502400" y="2006600"/>
            <a:ext cx="4749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300">
                <a:solidFill>
                  <a:srgbClr val="223022"/>
                </a:solidFill>
                <a:latin typeface="Aptos"/>
              </a:rPr>
              <a:t>The repo shows this scope clearly:</a:t>
            </a:r>
          </a:p>
          <a:p>
            <a:endParaRPr lang="en-US" sz="1300">
              <a:solidFill>
                <a:srgbClr val="223022"/>
              </a:solidFill>
              <a:latin typeface="Aptos"/>
            </a:endParaRPr>
          </a:p>
          <a:p>
            <a:r>
              <a:rPr lang="en-US" sz="1300">
                <a:solidFill>
                  <a:srgbClr val="223022"/>
                </a:solidFill>
                <a:latin typeface="Aptos"/>
              </a:rPr>
              <a:t>â€¢ students, parents, teachers, users, and permissions</a:t>
            </a:r>
          </a:p>
          <a:p>
            <a:r>
              <a:rPr lang="en-US" sz="1300">
                <a:solidFill>
                  <a:srgbClr val="223022"/>
                </a:solidFill>
                <a:latin typeface="Aptos"/>
              </a:rPr>
              <a:t>â€¢ courses, groups, schedules, and enrollments</a:t>
            </a:r>
          </a:p>
          <a:p>
            <a:r>
              <a:rPr lang="en-US" sz="1300">
                <a:solidFill>
                  <a:srgbClr val="223022"/>
                </a:solidFill>
                <a:latin typeface="Aptos"/>
              </a:rPr>
              <a:t>â€¢ memorization sessions, Quran tests, assessments, and points</a:t>
            </a:r>
          </a:p>
          <a:p>
            <a:r>
              <a:rPr lang="en-US" sz="1300">
                <a:solidFill>
                  <a:srgbClr val="223022"/>
                </a:solidFill>
                <a:latin typeface="Aptos"/>
              </a:rPr>
              <a:t>â€¢ invoices, payments, finance requests, cash boxes, and reports</a:t>
            </a:r>
          </a:p>
          <a:p>
            <a:r>
              <a:rPr lang="en-US" sz="1300">
                <a:solidFill>
                  <a:srgbClr val="223022"/>
                </a:solidFill>
                <a:latin typeface="Aptos"/>
              </a:rPr>
              <a:t>â€¢ website pages, ID cards, print templates, barcodes, and APIs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781524-58CD-4047-BCD0-61A22A6DA891}"/>
              </a:ext>
            </a:extLst>
          </p:cNvPr>
          <p:cNvSpPr/>
          <p:nvPr/>
        </p:nvSpPr>
        <p:spPr>
          <a:xfrm>
            <a:off x="6502400" y="4546600"/>
            <a:ext cx="3073400" cy="457200"/>
          </a:xfrm>
          <a:prstGeom prst="roundRect">
            <a:avLst/>
          </a:prstGeom>
          <a:solidFill>
            <a:srgbClr val="006B2D">
              <a:alpha val="9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8FA124-676E-4AF2-8676-E0F8F3B0317E}"/>
              </a:ext>
            </a:extLst>
          </p:cNvPr>
          <p:cNvSpPr txBox="1"/>
          <p:nvPr/>
        </p:nvSpPr>
        <p:spPr>
          <a:xfrm>
            <a:off x="6654800" y="4648200"/>
            <a:ext cx="2794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00" b="1">
                <a:solidFill>
                  <a:srgbClr val="006B2D"/>
                </a:solidFill>
                <a:latin typeface="Aptos"/>
              </a:rPr>
              <a:t>Not a generic CMS or only a website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9BB830-7EAD-4EC2-A60A-E074A518CFBC}"/>
              </a:ext>
            </a:extLst>
          </p:cNvPr>
          <p:cNvSpPr txBox="1"/>
          <p:nvPr/>
        </p:nvSpPr>
        <p:spPr>
          <a:xfrm>
            <a:off x="533400" y="6438900"/>
            <a:ext cx="5334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900">
                <a:solidFill>
                  <a:srgbClr val="59685B"/>
                </a:solidFill>
                <a:latin typeface="Aptos"/>
              </a:rPr>
              <a:t>Generated from the current AlKhairPhp codebase | 2026-05-14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CB1C19-21C1-4D27-AA3F-702E641B8E1A}"/>
              </a:ext>
            </a:extLst>
          </p:cNvPr>
          <p:cNvSpPr txBox="1"/>
          <p:nvPr/>
        </p:nvSpPr>
        <p:spPr>
          <a:xfrm>
            <a:off x="10668000" y="6426200"/>
            <a:ext cx="101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r"/>
            <a:r>
              <a:rPr lang="en-US" sz="1000">
                <a:solidFill>
                  <a:srgbClr val="006B2D"/>
                </a:solidFill>
                <a:latin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305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1B1049-5C78-45D0-808E-BB23F62201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C38B6-352B-41F5-9127-3C5F84329F16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0047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76FB9-E6F5-4207-854E-41D583E697E6}"/>
              </a:ext>
            </a:extLst>
          </p:cNvPr>
          <p:cNvSpPr/>
          <p:nvPr/>
        </p:nvSpPr>
        <p:spPr>
          <a:xfrm>
            <a:off x="0" y="939800"/>
            <a:ext cx="12192000" cy="101600"/>
          </a:xfrm>
          <a:prstGeom prst="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954F06-5850-44A6-B12C-34019E80F0F2}"/>
              </a:ext>
            </a:extLst>
          </p:cNvPr>
          <p:cNvSpPr/>
          <p:nvPr/>
        </p:nvSpPr>
        <p:spPr>
          <a:xfrm>
            <a:off x="9601200" y="330200"/>
            <a:ext cx="1981200" cy="279400"/>
          </a:xfrm>
          <a:prstGeom prst="roundRect">
            <a:avLst/>
          </a:prstGeom>
          <a:solidFill>
            <a:srgbClr val="0B8F43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EC24D-DBE5-46F8-B8ED-3C3A3D8E2A37}"/>
              </a:ext>
            </a:extLst>
          </p:cNvPr>
          <p:cNvSpPr txBox="1"/>
          <p:nvPr/>
        </p:nvSpPr>
        <p:spPr>
          <a:xfrm>
            <a:off x="533400" y="228600"/>
            <a:ext cx="228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00">
                <a:solidFill>
                  <a:srgbClr val="E8F2EC"/>
                </a:solidFill>
                <a:latin typeface="Aptos"/>
              </a:rPr>
              <a:t>Feature 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D8F9C-DFA1-40B7-8EA8-A5D9A9E838D3}"/>
              </a:ext>
            </a:extLst>
          </p:cNvPr>
          <p:cNvSpPr txBox="1"/>
          <p:nvPr/>
        </p:nvSpPr>
        <p:spPr>
          <a:xfrm>
            <a:off x="533400" y="381000"/>
            <a:ext cx="7493000" cy="381000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Main modules in the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58A5E-2F46-4156-BAA7-BE1E88EBF979}"/>
              </a:ext>
            </a:extLst>
          </p:cNvPr>
          <p:cNvSpPr txBox="1"/>
          <p:nvPr/>
        </p:nvSpPr>
        <p:spPr>
          <a:xfrm>
            <a:off x="533400" y="1092200"/>
            <a:ext cx="8128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200">
                <a:solidFill>
                  <a:srgbClr val="59685B"/>
                </a:solidFill>
                <a:latin typeface="Aptos"/>
              </a:rPr>
              <a:t>These are the major functional areas that appear in routes, models, Livewire screens, and services.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924B40-ABA7-4624-9164-04892C20F39E}"/>
              </a:ext>
            </a:extLst>
          </p:cNvPr>
          <p:cNvSpPr/>
          <p:nvPr/>
        </p:nvSpPr>
        <p:spPr>
          <a:xfrm>
            <a:off x="533400" y="1676400"/>
            <a:ext cx="34798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9F5FB1-95A8-4EF8-9201-3D46E8282ABC}"/>
              </a:ext>
            </a:extLst>
          </p:cNvPr>
          <p:cNvSpPr/>
          <p:nvPr/>
        </p:nvSpPr>
        <p:spPr>
          <a:xfrm>
            <a:off x="762000" y="1905000"/>
            <a:ext cx="431800" cy="762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CDA851-80BE-434F-9DB3-262AE4FA1AB5}"/>
              </a:ext>
            </a:extLst>
          </p:cNvPr>
          <p:cNvSpPr txBox="1"/>
          <p:nvPr/>
        </p:nvSpPr>
        <p:spPr>
          <a:xfrm>
            <a:off x="762000" y="20320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People and access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21A62-762D-486A-86C7-08C73625ECF2}"/>
              </a:ext>
            </a:extLst>
          </p:cNvPr>
          <p:cNvSpPr txBox="1"/>
          <p:nvPr/>
        </p:nvSpPr>
        <p:spPr>
          <a:xfrm>
            <a:off x="762000" y="23876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Users, roles, permissions, parents, teachers, students, profile photos, and scoped dashboards.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8E8DC78-AED3-4233-87D6-D673DCB50CC4}"/>
              </a:ext>
            </a:extLst>
          </p:cNvPr>
          <p:cNvSpPr/>
          <p:nvPr/>
        </p:nvSpPr>
        <p:spPr>
          <a:xfrm>
            <a:off x="4343400" y="1676400"/>
            <a:ext cx="34798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1DFD54-14EA-4710-8BEB-267E731DAEC1}"/>
              </a:ext>
            </a:extLst>
          </p:cNvPr>
          <p:cNvSpPr/>
          <p:nvPr/>
        </p:nvSpPr>
        <p:spPr>
          <a:xfrm>
            <a:off x="4572000" y="1905000"/>
            <a:ext cx="431800" cy="76200"/>
          </a:xfrm>
          <a:prstGeom prst="roundRect">
            <a:avLst/>
          </a:prstGeom>
          <a:solidFill>
            <a:srgbClr val="0B8F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085EE-D3DA-4363-844C-75C2EAC8D073}"/>
              </a:ext>
            </a:extLst>
          </p:cNvPr>
          <p:cNvSpPr txBox="1"/>
          <p:nvPr/>
        </p:nvSpPr>
        <p:spPr>
          <a:xfrm>
            <a:off x="4572000" y="20320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Academic structure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E5E3A5-38C9-4E16-8194-1AC38F271A84}"/>
              </a:ext>
            </a:extLst>
          </p:cNvPr>
          <p:cNvSpPr txBox="1"/>
          <p:nvPr/>
        </p:nvSpPr>
        <p:spPr>
          <a:xfrm>
            <a:off x="4572000" y="23876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Courses, running groups, schedules, academic years, grade levels, and student enrollments.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932B63-C641-4895-9986-274D6E17C537}"/>
              </a:ext>
            </a:extLst>
          </p:cNvPr>
          <p:cNvSpPr/>
          <p:nvPr/>
        </p:nvSpPr>
        <p:spPr>
          <a:xfrm>
            <a:off x="8153400" y="1676400"/>
            <a:ext cx="34798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68C7B0-21B4-48F8-ACF8-B838BABD9F52}"/>
              </a:ext>
            </a:extLst>
          </p:cNvPr>
          <p:cNvSpPr/>
          <p:nvPr/>
        </p:nvSpPr>
        <p:spPr>
          <a:xfrm>
            <a:off x="8382000" y="1905000"/>
            <a:ext cx="431800" cy="76200"/>
          </a:xfrm>
          <a:prstGeom prst="round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9E316E-DBD2-492E-A520-4A6B9B54818F}"/>
              </a:ext>
            </a:extLst>
          </p:cNvPr>
          <p:cNvSpPr txBox="1"/>
          <p:nvPr/>
        </p:nvSpPr>
        <p:spPr>
          <a:xfrm>
            <a:off x="8382000" y="20320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Quran tracking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76AEBD-A27B-45E3-9AF9-61BECF27E046}"/>
              </a:ext>
            </a:extLst>
          </p:cNvPr>
          <p:cNvSpPr txBox="1"/>
          <p:nvPr/>
        </p:nvSpPr>
        <p:spPr>
          <a:xfrm>
            <a:off x="8382000" y="23876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Page-level memorization, quick entry, partial tests, final tests, awqaf tests, and progression rules.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B0C48E-062B-4FAA-A3CE-A241CA65DB9E}"/>
              </a:ext>
            </a:extLst>
          </p:cNvPr>
          <p:cNvSpPr/>
          <p:nvPr/>
        </p:nvSpPr>
        <p:spPr>
          <a:xfrm>
            <a:off x="533400" y="3352800"/>
            <a:ext cx="34798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1F9928-68C0-4DF5-A219-F111E7639A22}"/>
              </a:ext>
            </a:extLst>
          </p:cNvPr>
          <p:cNvSpPr/>
          <p:nvPr/>
        </p:nvSpPr>
        <p:spPr>
          <a:xfrm>
            <a:off x="762000" y="3581400"/>
            <a:ext cx="431800" cy="762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9DA6BE-65E3-4768-B80D-F096950431FB}"/>
              </a:ext>
            </a:extLst>
          </p:cNvPr>
          <p:cNvSpPr txBox="1"/>
          <p:nvPr/>
        </p:nvSpPr>
        <p:spPr>
          <a:xfrm>
            <a:off x="762000" y="37084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Attendance and performance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6D88EE-A352-4FDB-946E-6C837054D443}"/>
              </a:ext>
            </a:extLst>
          </p:cNvPr>
          <p:cNvSpPr txBox="1"/>
          <p:nvPr/>
        </p:nvSpPr>
        <p:spPr>
          <a:xfrm>
            <a:off x="762000" y="40640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Student attendance, teacher attendance, assessments, results, points ledger, and student notes.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40F9ADC-5ABD-4D4C-B996-8D2C04925D6E}"/>
              </a:ext>
            </a:extLst>
          </p:cNvPr>
          <p:cNvSpPr/>
          <p:nvPr/>
        </p:nvSpPr>
        <p:spPr>
          <a:xfrm>
            <a:off x="4343400" y="3352800"/>
            <a:ext cx="34798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52A9E0F-C458-451D-B84C-4530CBE80F34}"/>
              </a:ext>
            </a:extLst>
          </p:cNvPr>
          <p:cNvSpPr/>
          <p:nvPr/>
        </p:nvSpPr>
        <p:spPr>
          <a:xfrm>
            <a:off x="4572000" y="3581400"/>
            <a:ext cx="431800" cy="76200"/>
          </a:xfrm>
          <a:prstGeom prst="roundRect">
            <a:avLst/>
          </a:prstGeom>
          <a:solidFill>
            <a:srgbClr val="0B8F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311B85-A0F4-45FB-B226-5922B51A5A84}"/>
              </a:ext>
            </a:extLst>
          </p:cNvPr>
          <p:cNvSpPr txBox="1"/>
          <p:nvPr/>
        </p:nvSpPr>
        <p:spPr>
          <a:xfrm>
            <a:off x="4572000" y="37084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Finance and activities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EA247F-4EB4-4002-9D5B-E7AAED69E6B1}"/>
              </a:ext>
            </a:extLst>
          </p:cNvPr>
          <p:cNvSpPr txBox="1"/>
          <p:nvPr/>
        </p:nvSpPr>
        <p:spPr>
          <a:xfrm>
            <a:off x="4572000" y="40640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Invoices, receipts, payments, activity registrations, request workflows, cash boxes, transfers, and exchange.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5B6091E-11BE-431B-95B4-C25E4B98BD21}"/>
              </a:ext>
            </a:extLst>
          </p:cNvPr>
          <p:cNvSpPr/>
          <p:nvPr/>
        </p:nvSpPr>
        <p:spPr>
          <a:xfrm>
            <a:off x="8153400" y="3352800"/>
            <a:ext cx="34798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90FE75D-D352-44B5-A1B1-FD9E16350CBA}"/>
              </a:ext>
            </a:extLst>
          </p:cNvPr>
          <p:cNvSpPr/>
          <p:nvPr/>
        </p:nvSpPr>
        <p:spPr>
          <a:xfrm>
            <a:off x="8382000" y="3581400"/>
            <a:ext cx="431800" cy="76200"/>
          </a:xfrm>
          <a:prstGeom prst="round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CD0797-9781-47A0-AA1A-671ACC676EFB}"/>
              </a:ext>
            </a:extLst>
          </p:cNvPr>
          <p:cNvSpPr txBox="1"/>
          <p:nvPr/>
        </p:nvSpPr>
        <p:spPr>
          <a:xfrm>
            <a:off x="8382000" y="37084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Identity, website, and API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C9C12F-7548-4582-B340-99C9F2AC0BDB}"/>
              </a:ext>
            </a:extLst>
          </p:cNvPr>
          <p:cNvSpPr txBox="1"/>
          <p:nvPr/>
        </p:nvSpPr>
        <p:spPr>
          <a:xfrm>
            <a:off x="8382000" y="40640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ID cards, print templates, barcodes, bilingual public website, API tokens, and integration endpoints.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23D0FBB-C428-4E45-8749-E42DC3B26C92}"/>
              </a:ext>
            </a:extLst>
          </p:cNvPr>
          <p:cNvSpPr/>
          <p:nvPr/>
        </p:nvSpPr>
        <p:spPr>
          <a:xfrm>
            <a:off x="533400" y="5130800"/>
            <a:ext cx="11099800" cy="914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C393F4-48C0-481F-BA95-816EB383EFAF}"/>
              </a:ext>
            </a:extLst>
          </p:cNvPr>
          <p:cNvSpPr txBox="1"/>
          <p:nvPr/>
        </p:nvSpPr>
        <p:spPr>
          <a:xfrm>
            <a:off x="787400" y="5384800"/>
            <a:ext cx="10566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The strongest center of gravity is the combination of student operations, Quran progress tracking, and finance.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7954B4-F9F8-4360-930C-C51F770C3137}"/>
              </a:ext>
            </a:extLst>
          </p:cNvPr>
          <p:cNvSpPr txBox="1"/>
          <p:nvPr/>
        </p:nvSpPr>
        <p:spPr>
          <a:xfrm>
            <a:off x="533400" y="6438900"/>
            <a:ext cx="5334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900">
                <a:solidFill>
                  <a:srgbClr val="59685B"/>
                </a:solidFill>
                <a:latin typeface="Aptos"/>
              </a:rPr>
              <a:t>Generated from the current AlKhairPhp codebase | 2026-05-14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CFC04F-9714-4339-B72D-460FDC507308}"/>
              </a:ext>
            </a:extLst>
          </p:cNvPr>
          <p:cNvSpPr txBox="1"/>
          <p:nvPr/>
        </p:nvSpPr>
        <p:spPr>
          <a:xfrm>
            <a:off x="10668000" y="6426200"/>
            <a:ext cx="101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r"/>
            <a:r>
              <a:rPr lang="en-US" sz="1000">
                <a:solidFill>
                  <a:srgbClr val="006B2D"/>
                </a:solidFill>
                <a:latin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9401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B34214-B972-4F6D-8064-BB59531859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7FF251-4FBE-4320-9B6C-FE0AED1DCC63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0047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B8667-8B9D-4A66-9E78-4EC7218A4DF6}"/>
              </a:ext>
            </a:extLst>
          </p:cNvPr>
          <p:cNvSpPr/>
          <p:nvPr/>
        </p:nvSpPr>
        <p:spPr>
          <a:xfrm>
            <a:off x="0" y="939800"/>
            <a:ext cx="12192000" cy="101600"/>
          </a:xfrm>
          <a:prstGeom prst="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0AB9A2-1175-4C1A-9587-30872392103C}"/>
              </a:ext>
            </a:extLst>
          </p:cNvPr>
          <p:cNvSpPr/>
          <p:nvPr/>
        </p:nvSpPr>
        <p:spPr>
          <a:xfrm>
            <a:off x="9601200" y="330200"/>
            <a:ext cx="1981200" cy="279400"/>
          </a:xfrm>
          <a:prstGeom prst="roundRect">
            <a:avLst/>
          </a:prstGeom>
          <a:solidFill>
            <a:srgbClr val="0B8F43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17961-3555-4537-B8C6-EFF656EF5578}"/>
              </a:ext>
            </a:extLst>
          </p:cNvPr>
          <p:cNvSpPr txBox="1"/>
          <p:nvPr/>
        </p:nvSpPr>
        <p:spPr>
          <a:xfrm>
            <a:off x="533400" y="228600"/>
            <a:ext cx="228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00">
                <a:solidFill>
                  <a:srgbClr val="E8F2EC"/>
                </a:solidFill>
                <a:latin typeface="Aptos"/>
              </a:rPr>
              <a:t>Core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F0987C-85EE-49A5-A3BD-F5AD0AC9489F}"/>
              </a:ext>
            </a:extLst>
          </p:cNvPr>
          <p:cNvSpPr txBox="1"/>
          <p:nvPr/>
        </p:nvSpPr>
        <p:spPr>
          <a:xfrm>
            <a:off x="533400" y="381000"/>
            <a:ext cx="7493000" cy="381000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How the main business flow works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A223E1-9C9E-46EB-9052-B0B909A6D84C}"/>
              </a:ext>
            </a:extLst>
          </p:cNvPr>
          <p:cNvSpPr txBox="1"/>
          <p:nvPr/>
        </p:nvSpPr>
        <p:spPr>
          <a:xfrm>
            <a:off x="533400" y="1092200"/>
            <a:ext cx="8128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200">
                <a:solidFill>
                  <a:srgbClr val="59685B"/>
                </a:solidFill>
                <a:latin typeface="Aptos"/>
              </a:rPr>
              <a:t>The application is organized around the journey from student onboarding to daily tracking, evaluation, and billing.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7A2F6D-ABF5-4236-BC52-511435EB2112}"/>
              </a:ext>
            </a:extLst>
          </p:cNvPr>
          <p:cNvSpPr/>
          <p:nvPr/>
        </p:nvSpPr>
        <p:spPr>
          <a:xfrm>
            <a:off x="533400" y="1981200"/>
            <a:ext cx="1676400" cy="203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4A5C90-3104-4DA0-B6B6-568D768D7B9E}"/>
              </a:ext>
            </a:extLst>
          </p:cNvPr>
          <p:cNvSpPr/>
          <p:nvPr/>
        </p:nvSpPr>
        <p:spPr>
          <a:xfrm>
            <a:off x="711200" y="2159000"/>
            <a:ext cx="431800" cy="4318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7578A-EA23-4630-B3BA-8D908F69A00F}"/>
              </a:ext>
            </a:extLst>
          </p:cNvPr>
          <p:cNvSpPr txBox="1"/>
          <p:nvPr/>
        </p:nvSpPr>
        <p:spPr>
          <a:xfrm>
            <a:off x="723900" y="2197100"/>
            <a:ext cx="406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Bahnschrift SemiBold" panose="020B0502040204020203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87B53-D758-4E5E-95D6-DB2DE53B6342}"/>
              </a:ext>
            </a:extLst>
          </p:cNvPr>
          <p:cNvSpPr txBox="1"/>
          <p:nvPr/>
        </p:nvSpPr>
        <p:spPr>
          <a:xfrm>
            <a:off x="1270000" y="2171700"/>
            <a:ext cx="787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400" b="1">
                <a:solidFill>
                  <a:srgbClr val="223022"/>
                </a:solidFill>
                <a:latin typeface="Bahnschrift SemiBold" panose="020B0502040204020203" pitchFamily="34" charset="0"/>
              </a:rPr>
              <a:t>Register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08ED5-41C0-4EE0-B34E-6E33301A26EB}"/>
              </a:ext>
            </a:extLst>
          </p:cNvPr>
          <p:cNvSpPr txBox="1"/>
          <p:nvPr/>
        </p:nvSpPr>
        <p:spPr>
          <a:xfrm>
            <a:off x="723900" y="2692400"/>
            <a:ext cx="1295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50">
                <a:solidFill>
                  <a:srgbClr val="59685B"/>
                </a:solidFill>
                <a:latin typeface="Aptos"/>
              </a:rPr>
              <a:t>Create parent, teacher, and student records. Assign permissions and profile data.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C846C11-B857-4327-9513-0EB9D9A4E4CD}"/>
              </a:ext>
            </a:extLst>
          </p:cNvPr>
          <p:cNvSpPr/>
          <p:nvPr/>
        </p:nvSpPr>
        <p:spPr>
          <a:xfrm>
            <a:off x="2463800" y="1981200"/>
            <a:ext cx="1676400" cy="203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E17E36-5201-4C4A-8668-B55926880526}"/>
              </a:ext>
            </a:extLst>
          </p:cNvPr>
          <p:cNvSpPr/>
          <p:nvPr/>
        </p:nvSpPr>
        <p:spPr>
          <a:xfrm>
            <a:off x="2641600" y="2159000"/>
            <a:ext cx="431800" cy="4318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25A28A-2334-4790-97C4-8D29C074E9C3}"/>
              </a:ext>
            </a:extLst>
          </p:cNvPr>
          <p:cNvSpPr txBox="1"/>
          <p:nvPr/>
        </p:nvSpPr>
        <p:spPr>
          <a:xfrm>
            <a:off x="2654300" y="2197100"/>
            <a:ext cx="406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Bahnschrift SemiBold" panose="020B0502040204020203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5A267-1581-46AA-8287-2A848948B876}"/>
              </a:ext>
            </a:extLst>
          </p:cNvPr>
          <p:cNvSpPr txBox="1"/>
          <p:nvPr/>
        </p:nvSpPr>
        <p:spPr>
          <a:xfrm>
            <a:off x="3200400" y="2171700"/>
            <a:ext cx="787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400" b="1">
                <a:solidFill>
                  <a:srgbClr val="223022"/>
                </a:solidFill>
                <a:latin typeface="Bahnschrift SemiBold" panose="020B0502040204020203" pitchFamily="34" charset="0"/>
              </a:rPr>
              <a:t>Set up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FB9933-F69E-4E15-AFC8-AEF2C0F190D4}"/>
              </a:ext>
            </a:extLst>
          </p:cNvPr>
          <p:cNvSpPr txBox="1"/>
          <p:nvPr/>
        </p:nvSpPr>
        <p:spPr>
          <a:xfrm>
            <a:off x="2654300" y="2692400"/>
            <a:ext cx="1295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50">
                <a:solidFill>
                  <a:srgbClr val="59685B"/>
                </a:solidFill>
                <a:latin typeface="Aptos"/>
              </a:rPr>
              <a:t>Set up courses, groups, schedules, academic year context, and active enrollments.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B2099B-4C98-4A07-9AE3-A1A20393B109}"/>
              </a:ext>
            </a:extLst>
          </p:cNvPr>
          <p:cNvSpPr/>
          <p:nvPr/>
        </p:nvSpPr>
        <p:spPr>
          <a:xfrm>
            <a:off x="4394200" y="1981200"/>
            <a:ext cx="1676400" cy="203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C73B97-1395-4A90-B249-F7A201F43F63}"/>
              </a:ext>
            </a:extLst>
          </p:cNvPr>
          <p:cNvSpPr/>
          <p:nvPr/>
        </p:nvSpPr>
        <p:spPr>
          <a:xfrm>
            <a:off x="4572000" y="2159000"/>
            <a:ext cx="431800" cy="4318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2A7F94-1593-4E9D-9BC9-E05A71CF56DE}"/>
              </a:ext>
            </a:extLst>
          </p:cNvPr>
          <p:cNvSpPr txBox="1"/>
          <p:nvPr/>
        </p:nvSpPr>
        <p:spPr>
          <a:xfrm>
            <a:off x="4584700" y="2197100"/>
            <a:ext cx="406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Bahnschrift SemiBold" panose="020B0502040204020203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13595-A629-4044-8B1D-5CCF2E87545E}"/>
              </a:ext>
            </a:extLst>
          </p:cNvPr>
          <p:cNvSpPr txBox="1"/>
          <p:nvPr/>
        </p:nvSpPr>
        <p:spPr>
          <a:xfrm>
            <a:off x="5130800" y="2171700"/>
            <a:ext cx="787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400" b="1">
                <a:solidFill>
                  <a:srgbClr val="223022"/>
                </a:solidFill>
                <a:latin typeface="Bahnschrift SemiBold" panose="020B0502040204020203" pitchFamily="34" charset="0"/>
              </a:rPr>
              <a:t>Track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213BC8-4651-4F01-BDC6-D162C4257FB6}"/>
              </a:ext>
            </a:extLst>
          </p:cNvPr>
          <p:cNvSpPr txBox="1"/>
          <p:nvPr/>
        </p:nvSpPr>
        <p:spPr>
          <a:xfrm>
            <a:off x="4584700" y="2692400"/>
            <a:ext cx="1295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50">
                <a:solidFill>
                  <a:srgbClr val="59685B"/>
                </a:solidFill>
                <a:latin typeface="Aptos"/>
              </a:rPr>
              <a:t>Capture attendance, memorization sessions, Quran tests, and supporting notes.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A9FDD91-A39F-469D-8679-E2BF8BCA3D39}"/>
              </a:ext>
            </a:extLst>
          </p:cNvPr>
          <p:cNvSpPr/>
          <p:nvPr/>
        </p:nvSpPr>
        <p:spPr>
          <a:xfrm>
            <a:off x="6324600" y="1981200"/>
            <a:ext cx="1676400" cy="203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7C2019-E7E2-4BEC-91B1-2553115648FF}"/>
              </a:ext>
            </a:extLst>
          </p:cNvPr>
          <p:cNvSpPr/>
          <p:nvPr/>
        </p:nvSpPr>
        <p:spPr>
          <a:xfrm>
            <a:off x="6502400" y="2159000"/>
            <a:ext cx="431800" cy="4318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2E4A3C-0A10-4E5C-8476-4A01BD1F964A}"/>
              </a:ext>
            </a:extLst>
          </p:cNvPr>
          <p:cNvSpPr txBox="1"/>
          <p:nvPr/>
        </p:nvSpPr>
        <p:spPr>
          <a:xfrm>
            <a:off x="6515100" y="2197100"/>
            <a:ext cx="406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Bahnschrift SemiBold" panose="020B0502040204020203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FFAA25-BB64-4F96-B205-A02A2A5AC3E8}"/>
              </a:ext>
            </a:extLst>
          </p:cNvPr>
          <p:cNvSpPr txBox="1"/>
          <p:nvPr/>
        </p:nvSpPr>
        <p:spPr>
          <a:xfrm>
            <a:off x="7061200" y="2171700"/>
            <a:ext cx="787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400" b="1">
                <a:solidFill>
                  <a:srgbClr val="223022"/>
                </a:solidFill>
                <a:latin typeface="Bahnschrift SemiBold" panose="020B0502040204020203" pitchFamily="34" charset="0"/>
              </a:rPr>
              <a:t>Assess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6F40D0-FEB9-4E3C-80F7-576DA32BD881}"/>
              </a:ext>
            </a:extLst>
          </p:cNvPr>
          <p:cNvSpPr txBox="1"/>
          <p:nvPr/>
        </p:nvSpPr>
        <p:spPr>
          <a:xfrm>
            <a:off x="6515100" y="2692400"/>
            <a:ext cx="1295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50">
                <a:solidFill>
                  <a:srgbClr val="59685B"/>
                </a:solidFill>
                <a:latin typeface="Aptos"/>
              </a:rPr>
              <a:t>Record assessments, exam results, pass or fail status, and progression milestones.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A20FE7-1744-435B-AEA8-803604233435}"/>
              </a:ext>
            </a:extLst>
          </p:cNvPr>
          <p:cNvSpPr/>
          <p:nvPr/>
        </p:nvSpPr>
        <p:spPr>
          <a:xfrm>
            <a:off x="8255000" y="1981200"/>
            <a:ext cx="1676400" cy="203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854792-5821-4FA6-83D2-FAB11B0E0F22}"/>
              </a:ext>
            </a:extLst>
          </p:cNvPr>
          <p:cNvSpPr/>
          <p:nvPr/>
        </p:nvSpPr>
        <p:spPr>
          <a:xfrm>
            <a:off x="8432800" y="2159000"/>
            <a:ext cx="431800" cy="4318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3A6A67-EB0F-404F-AD44-4A2E081FD2F6}"/>
              </a:ext>
            </a:extLst>
          </p:cNvPr>
          <p:cNvSpPr txBox="1"/>
          <p:nvPr/>
        </p:nvSpPr>
        <p:spPr>
          <a:xfrm>
            <a:off x="8445500" y="2197100"/>
            <a:ext cx="406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Bahnschrift SemiBold" panose="020B0502040204020203" pitchFamily="34" charset="0"/>
              </a:rPr>
              <a:t>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A5E012-9AC0-450F-8EB6-8D65B271E782}"/>
              </a:ext>
            </a:extLst>
          </p:cNvPr>
          <p:cNvSpPr txBox="1"/>
          <p:nvPr/>
        </p:nvSpPr>
        <p:spPr>
          <a:xfrm>
            <a:off x="8991600" y="2171700"/>
            <a:ext cx="787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400" b="1">
                <a:solidFill>
                  <a:srgbClr val="223022"/>
                </a:solidFill>
                <a:latin typeface="Bahnschrift SemiBold" panose="020B0502040204020203" pitchFamily="34" charset="0"/>
              </a:rPr>
              <a:t>Reward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E0F231-D2DE-4854-8FDB-858540086D67}"/>
              </a:ext>
            </a:extLst>
          </p:cNvPr>
          <p:cNvSpPr txBox="1"/>
          <p:nvPr/>
        </p:nvSpPr>
        <p:spPr>
          <a:xfrm>
            <a:off x="8445500" y="2692400"/>
            <a:ext cx="1295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50">
                <a:solidFill>
                  <a:srgbClr val="59685B"/>
                </a:solidFill>
                <a:latin typeface="Aptos"/>
              </a:rPr>
              <a:t>Apply point policies, manual adjustments, and cached progress summaries.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82F9B72-E316-47D9-8996-C06FD04EA11B}"/>
              </a:ext>
            </a:extLst>
          </p:cNvPr>
          <p:cNvSpPr/>
          <p:nvPr/>
        </p:nvSpPr>
        <p:spPr>
          <a:xfrm>
            <a:off x="10185400" y="1981200"/>
            <a:ext cx="1447800" cy="203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0956CDC-BF0C-4387-A487-60E53FEF77CC}"/>
              </a:ext>
            </a:extLst>
          </p:cNvPr>
          <p:cNvSpPr/>
          <p:nvPr/>
        </p:nvSpPr>
        <p:spPr>
          <a:xfrm>
            <a:off x="10363200" y="2159000"/>
            <a:ext cx="431800" cy="4318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14F8B7-2FAD-49AE-A30E-0C12EE16046C}"/>
              </a:ext>
            </a:extLst>
          </p:cNvPr>
          <p:cNvSpPr txBox="1"/>
          <p:nvPr/>
        </p:nvSpPr>
        <p:spPr>
          <a:xfrm>
            <a:off x="10375900" y="2197100"/>
            <a:ext cx="406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Bahnschrift SemiBold" panose="020B0502040204020203" pitchFamily="34" charset="0"/>
              </a:rPr>
              <a:t>06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4D9896-2CEE-4C2C-A519-AB162D4FE30D}"/>
              </a:ext>
            </a:extLst>
          </p:cNvPr>
          <p:cNvSpPr txBox="1"/>
          <p:nvPr/>
        </p:nvSpPr>
        <p:spPr>
          <a:xfrm>
            <a:off x="10922000" y="2171700"/>
            <a:ext cx="558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400" b="1">
                <a:solidFill>
                  <a:srgbClr val="223022"/>
                </a:solidFill>
                <a:latin typeface="Bahnschrift SemiBold" panose="020B0502040204020203" pitchFamily="34" charset="0"/>
              </a:rPr>
              <a:t>Bill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087CB0-DF94-4A64-BF36-48CBA5546641}"/>
              </a:ext>
            </a:extLst>
          </p:cNvPr>
          <p:cNvSpPr txBox="1"/>
          <p:nvPr/>
        </p:nvSpPr>
        <p:spPr>
          <a:xfrm>
            <a:off x="10375900" y="2692400"/>
            <a:ext cx="1066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50">
                <a:solidFill>
                  <a:srgbClr val="59685B"/>
                </a:solidFill>
                <a:latin typeface="Aptos"/>
              </a:rPr>
              <a:t>Issue invoices, collect payments, manage requests, and review finance reports.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B6788F8-B86A-4A3F-914A-600159C7550E}"/>
              </a:ext>
            </a:extLst>
          </p:cNvPr>
          <p:cNvSpPr/>
          <p:nvPr/>
        </p:nvSpPr>
        <p:spPr>
          <a:xfrm>
            <a:off x="533400" y="4572000"/>
            <a:ext cx="11099800" cy="1219200"/>
          </a:xfrm>
          <a:prstGeom prst="roundRect">
            <a:avLst/>
          </a:prstGeom>
          <a:solidFill>
            <a:srgbClr val="E8F2EC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17AB27-DCA6-401F-A36A-8957E19E2F3F}"/>
              </a:ext>
            </a:extLst>
          </p:cNvPr>
          <p:cNvSpPr txBox="1"/>
          <p:nvPr/>
        </p:nvSpPr>
        <p:spPr>
          <a:xfrm>
            <a:off x="863600" y="4851400"/>
            <a:ext cx="10388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500">
                <a:solidFill>
                  <a:srgbClr val="223022"/>
                </a:solidFill>
                <a:latin typeface="Aptos"/>
              </a:rPr>
              <a:t>Presentation takeaway: the app is not a collection of unrelated CRUD screens. It models one operational lifecycle for a learning center.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A14292-6C1D-4E5C-9445-087EF7774EA0}"/>
              </a:ext>
            </a:extLst>
          </p:cNvPr>
          <p:cNvSpPr txBox="1"/>
          <p:nvPr/>
        </p:nvSpPr>
        <p:spPr>
          <a:xfrm>
            <a:off x="533400" y="6438900"/>
            <a:ext cx="5334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900">
                <a:solidFill>
                  <a:srgbClr val="59685B"/>
                </a:solidFill>
                <a:latin typeface="Aptos"/>
              </a:rPr>
              <a:t>Generated from the current AlKhairPhp codebase | 2026-05-14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A4DBD0-93BF-4972-A154-C57B9850C443}"/>
              </a:ext>
            </a:extLst>
          </p:cNvPr>
          <p:cNvSpPr txBox="1"/>
          <p:nvPr/>
        </p:nvSpPr>
        <p:spPr>
          <a:xfrm>
            <a:off x="10668000" y="6426200"/>
            <a:ext cx="101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r"/>
            <a:r>
              <a:rPr lang="en-US" sz="1000">
                <a:solidFill>
                  <a:srgbClr val="006B2D"/>
                </a:solidFill>
                <a:latin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944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A1C26A-C6E0-431F-94A3-FD37411BFF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8FEA59-7D84-4FE2-BBEA-6E7B017A455D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0047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533E70-CE9E-4ABD-843E-93D9780CEE7B}"/>
              </a:ext>
            </a:extLst>
          </p:cNvPr>
          <p:cNvSpPr/>
          <p:nvPr/>
        </p:nvSpPr>
        <p:spPr>
          <a:xfrm>
            <a:off x="0" y="939800"/>
            <a:ext cx="12192000" cy="101600"/>
          </a:xfrm>
          <a:prstGeom prst="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B021E80-7C17-459E-9863-62B54DAC8401}"/>
              </a:ext>
            </a:extLst>
          </p:cNvPr>
          <p:cNvSpPr/>
          <p:nvPr/>
        </p:nvSpPr>
        <p:spPr>
          <a:xfrm>
            <a:off x="9601200" y="330200"/>
            <a:ext cx="1981200" cy="279400"/>
          </a:xfrm>
          <a:prstGeom prst="roundRect">
            <a:avLst/>
          </a:prstGeom>
          <a:solidFill>
            <a:srgbClr val="0B8F43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AD405F-18C3-484F-9B07-B0AA8AA2D828}"/>
              </a:ext>
            </a:extLst>
          </p:cNvPr>
          <p:cNvSpPr txBox="1"/>
          <p:nvPr/>
        </p:nvSpPr>
        <p:spPr>
          <a:xfrm>
            <a:off x="533400" y="228600"/>
            <a:ext cx="228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00">
                <a:solidFill>
                  <a:srgbClr val="E8F2EC"/>
                </a:solidFill>
                <a:latin typeface="Aptos"/>
              </a:rPr>
              <a:t>Differentiators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15F54-BE62-4726-B461-7E7643B935E3}"/>
              </a:ext>
            </a:extLst>
          </p:cNvPr>
          <p:cNvSpPr txBox="1"/>
          <p:nvPr/>
        </p:nvSpPr>
        <p:spPr>
          <a:xfrm>
            <a:off x="533400" y="381000"/>
            <a:ext cx="7493000" cy="381000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What makes this app specific to AlKhair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3A93CF-1300-4754-A126-D5B12C6E2522}"/>
              </a:ext>
            </a:extLst>
          </p:cNvPr>
          <p:cNvSpPr txBox="1"/>
          <p:nvPr/>
        </p:nvSpPr>
        <p:spPr>
          <a:xfrm>
            <a:off x="533400" y="1092200"/>
            <a:ext cx="8128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200">
                <a:solidFill>
                  <a:srgbClr val="59685B"/>
                </a:solidFill>
                <a:latin typeface="Aptos"/>
              </a:rPr>
              <a:t>The Quran workflow and learning rules are where the product becomes specialized.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9CBA49-008C-4C62-92B2-DF46288BE6B4}"/>
              </a:ext>
            </a:extLst>
          </p:cNvPr>
          <p:cNvSpPr/>
          <p:nvPr/>
        </p:nvSpPr>
        <p:spPr>
          <a:xfrm>
            <a:off x="533400" y="1727200"/>
            <a:ext cx="5334000" cy="406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378517-F5CE-44E9-8631-84CF21357571}"/>
              </a:ext>
            </a:extLst>
          </p:cNvPr>
          <p:cNvSpPr txBox="1"/>
          <p:nvPr/>
        </p:nvSpPr>
        <p:spPr>
          <a:xfrm>
            <a:off x="838200" y="2006600"/>
            <a:ext cx="4699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350">
                <a:solidFill>
                  <a:srgbClr val="223022"/>
                </a:solidFill>
                <a:latin typeface="Aptos"/>
              </a:rPr>
              <a:t>- Memorization is stored page by page, not as a loose summary.</a:t>
            </a:r>
          </a:p>
          <a:p>
            <a:endParaRPr lang="en-US" sz="1350">
              <a:solidFill>
                <a:srgbClr val="223022"/>
              </a:solidFill>
              <a:latin typeface="Aptos"/>
            </a:endParaRPr>
          </a:p>
          <a:p>
            <a:r>
              <a:rPr lang="en-US" sz="1350">
                <a:solidFill>
                  <a:srgbClr val="223022"/>
                </a:solidFill>
                <a:latin typeface="Aptos"/>
              </a:rPr>
              <a:t>- Duplicate lifetime pages are detected and prevented unless explicitly overridden.</a:t>
            </a:r>
          </a:p>
          <a:p>
            <a:endParaRPr lang="en-US" sz="1350">
              <a:solidFill>
                <a:srgbClr val="223022"/>
              </a:solidFill>
              <a:latin typeface="Aptos"/>
            </a:endParaRPr>
          </a:p>
          <a:p>
            <a:r>
              <a:rPr lang="en-US" sz="1350">
                <a:solidFill>
                  <a:srgbClr val="223022"/>
                </a:solidFill>
                <a:latin typeface="Aptos"/>
              </a:rPr>
              <a:t>- Final and awqaf tests follow progression rules based on passed earlier stages.</a:t>
            </a:r>
          </a:p>
          <a:p>
            <a:endParaRPr lang="en-US" sz="1350">
              <a:solidFill>
                <a:srgbClr val="223022"/>
              </a:solidFill>
              <a:latin typeface="Aptos"/>
            </a:endParaRPr>
          </a:p>
          <a:p>
            <a:r>
              <a:rPr lang="en-US" sz="1350">
                <a:solidFill>
                  <a:srgbClr val="223022"/>
                </a:solidFill>
                <a:latin typeface="Aptos"/>
              </a:rPr>
              <a:t>- Student progress screens combine pages, tests, attendance, points, and notes.</a:t>
            </a:r>
          </a:p>
          <a:p>
            <a:endParaRPr lang="en-US" sz="1350">
              <a:solidFill>
                <a:srgbClr val="223022"/>
              </a:solidFill>
              <a:latin typeface="Aptos"/>
            </a:endParaRPr>
          </a:p>
          <a:p>
            <a:r>
              <a:rPr lang="en-US" sz="1350">
                <a:solidFill>
                  <a:srgbClr val="223022"/>
                </a:solidFill>
                <a:latin typeface="Aptos"/>
              </a:rPr>
              <a:t>- A daily teacher summary API already exists for Telegram or n8n automation.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B47741-E444-453E-90A3-D71F03918739}"/>
              </a:ext>
            </a:extLst>
          </p:cNvPr>
          <p:cNvSpPr/>
          <p:nvPr/>
        </p:nvSpPr>
        <p:spPr>
          <a:xfrm>
            <a:off x="6273800" y="1727200"/>
            <a:ext cx="5359400" cy="4064000"/>
          </a:xfrm>
          <a:prstGeom prst="roundRect">
            <a:avLst/>
          </a:prstGeom>
          <a:solidFill>
            <a:srgbClr val="E8F2EC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201483-2791-4E98-B516-E8017877C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894" y="3236388"/>
            <a:ext cx="853011" cy="639225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6D4BDC-31E8-4117-A504-E849F535180C}"/>
              </a:ext>
            </a:extLst>
          </p:cNvPr>
          <p:cNvSpPr/>
          <p:nvPr/>
        </p:nvSpPr>
        <p:spPr>
          <a:xfrm>
            <a:off x="9499600" y="2082800"/>
            <a:ext cx="18288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E335F-6BEB-4F40-8A00-82B4EDC1FE7F}"/>
              </a:ext>
            </a:extLst>
          </p:cNvPr>
          <p:cNvSpPr txBox="1"/>
          <p:nvPr/>
        </p:nvSpPr>
        <p:spPr>
          <a:xfrm>
            <a:off x="9702800" y="2235200"/>
            <a:ext cx="1422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300" b="1">
                <a:solidFill>
                  <a:srgbClr val="006B2D"/>
                </a:solidFill>
                <a:latin typeface="Bahnschrift SemiBold" panose="020B0502040204020203" pitchFamily="34" charset="0"/>
              </a:rPr>
              <a:t>Memorization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60DAAA-3773-4BDA-B936-94BBB4E58A49}"/>
              </a:ext>
            </a:extLst>
          </p:cNvPr>
          <p:cNvSpPr txBox="1"/>
          <p:nvPr/>
        </p:nvSpPr>
        <p:spPr>
          <a:xfrm>
            <a:off x="9702800" y="2489200"/>
            <a:ext cx="1422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150">
                <a:solidFill>
                  <a:srgbClr val="223022"/>
                </a:solidFill>
                <a:latin typeface="Aptos"/>
              </a:rPr>
              <a:t>Page-level history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910C68-C4C2-43A9-92F3-7B53103D4DD4}"/>
              </a:ext>
            </a:extLst>
          </p:cNvPr>
          <p:cNvSpPr/>
          <p:nvPr/>
        </p:nvSpPr>
        <p:spPr>
          <a:xfrm>
            <a:off x="9499600" y="3124200"/>
            <a:ext cx="18288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AE2ABF-41F2-4680-A9E5-54741A6A0A06}"/>
              </a:ext>
            </a:extLst>
          </p:cNvPr>
          <p:cNvSpPr txBox="1"/>
          <p:nvPr/>
        </p:nvSpPr>
        <p:spPr>
          <a:xfrm>
            <a:off x="9702800" y="3276600"/>
            <a:ext cx="1422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300" b="1">
                <a:solidFill>
                  <a:srgbClr val="0B8F43"/>
                </a:solidFill>
                <a:latin typeface="Bahnschrift SemiBold" panose="020B0502040204020203" pitchFamily="34" charset="0"/>
              </a:rPr>
              <a:t>Progression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EE1B-AE33-4F90-A36A-813D65855717}"/>
              </a:ext>
            </a:extLst>
          </p:cNvPr>
          <p:cNvSpPr txBox="1"/>
          <p:nvPr/>
        </p:nvSpPr>
        <p:spPr>
          <a:xfrm>
            <a:off x="9702800" y="3530600"/>
            <a:ext cx="1422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150">
                <a:solidFill>
                  <a:srgbClr val="223022"/>
                </a:solidFill>
                <a:latin typeface="Aptos"/>
              </a:rPr>
              <a:t>Rule-driven tests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9CEDDE-D82F-4DC2-B2ED-9436A8E8BC1E}"/>
              </a:ext>
            </a:extLst>
          </p:cNvPr>
          <p:cNvSpPr/>
          <p:nvPr/>
        </p:nvSpPr>
        <p:spPr>
          <a:xfrm>
            <a:off x="9499600" y="4165600"/>
            <a:ext cx="18288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C7DCA3-D854-4831-8EAF-5513CF0A83CF}"/>
              </a:ext>
            </a:extLst>
          </p:cNvPr>
          <p:cNvSpPr txBox="1"/>
          <p:nvPr/>
        </p:nvSpPr>
        <p:spPr>
          <a:xfrm>
            <a:off x="9702800" y="4318000"/>
            <a:ext cx="1422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300" b="1">
                <a:solidFill>
                  <a:srgbClr val="BB974E"/>
                </a:solidFill>
                <a:latin typeface="Bahnschrift SemiBold" panose="020B0502040204020203" pitchFamily="34" charset="0"/>
              </a:rPr>
              <a:t>Automation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DDCB44-CB19-42AD-B220-BF5BBC2F7F5C}"/>
              </a:ext>
            </a:extLst>
          </p:cNvPr>
          <p:cNvSpPr txBox="1"/>
          <p:nvPr/>
        </p:nvSpPr>
        <p:spPr>
          <a:xfrm>
            <a:off x="9702800" y="4572000"/>
            <a:ext cx="14224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150">
                <a:solidFill>
                  <a:srgbClr val="223022"/>
                </a:solidFill>
                <a:latin typeface="Aptos"/>
              </a:rPr>
              <a:t>Daily teacher digest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3276F5-81FA-4377-B389-B5FBDE5ACC13}"/>
              </a:ext>
            </a:extLst>
          </p:cNvPr>
          <p:cNvSpPr txBox="1"/>
          <p:nvPr/>
        </p:nvSpPr>
        <p:spPr>
          <a:xfrm>
            <a:off x="533400" y="6438900"/>
            <a:ext cx="5334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900">
                <a:solidFill>
                  <a:srgbClr val="59685B"/>
                </a:solidFill>
                <a:latin typeface="Aptos"/>
              </a:rPr>
              <a:t>Generated from the current AlKhairPhp codebase | 2026-05-14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694CB6-6874-48C0-8518-E11BB6BFB3B4}"/>
              </a:ext>
            </a:extLst>
          </p:cNvPr>
          <p:cNvSpPr txBox="1"/>
          <p:nvPr/>
        </p:nvSpPr>
        <p:spPr>
          <a:xfrm>
            <a:off x="10668000" y="6426200"/>
            <a:ext cx="101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r"/>
            <a:r>
              <a:rPr lang="en-US" sz="1000">
                <a:solidFill>
                  <a:srgbClr val="006B2D"/>
                </a:solidFill>
                <a:latin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59421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BE1FA4-3606-4EF4-A0B6-06C78AB62B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F4C692-8C6B-4891-B3B3-F7B4C6378683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0047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96D95C-9B48-4711-938A-F55D858C20E2}"/>
              </a:ext>
            </a:extLst>
          </p:cNvPr>
          <p:cNvSpPr/>
          <p:nvPr/>
        </p:nvSpPr>
        <p:spPr>
          <a:xfrm>
            <a:off x="0" y="939800"/>
            <a:ext cx="12192000" cy="101600"/>
          </a:xfrm>
          <a:prstGeom prst="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C38373-960C-44C2-83E6-5739866173C8}"/>
              </a:ext>
            </a:extLst>
          </p:cNvPr>
          <p:cNvSpPr/>
          <p:nvPr/>
        </p:nvSpPr>
        <p:spPr>
          <a:xfrm>
            <a:off x="9601200" y="330200"/>
            <a:ext cx="1981200" cy="279400"/>
          </a:xfrm>
          <a:prstGeom prst="roundRect">
            <a:avLst/>
          </a:prstGeom>
          <a:solidFill>
            <a:srgbClr val="0B8F43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A1E407-77AF-4A66-B1F0-785DDCCEAA9E}"/>
              </a:ext>
            </a:extLst>
          </p:cNvPr>
          <p:cNvSpPr txBox="1"/>
          <p:nvPr/>
        </p:nvSpPr>
        <p:spPr>
          <a:xfrm>
            <a:off x="533400" y="228600"/>
            <a:ext cx="228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00">
                <a:solidFill>
                  <a:srgbClr val="E8F2EC"/>
                </a:solidFill>
                <a:latin typeface="Aptos"/>
              </a:rPr>
              <a:t>Operations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9175C-6067-4D4E-856D-B5F3ADCA8566}"/>
              </a:ext>
            </a:extLst>
          </p:cNvPr>
          <p:cNvSpPr txBox="1"/>
          <p:nvPr/>
        </p:nvSpPr>
        <p:spPr>
          <a:xfrm>
            <a:off x="533400" y="381000"/>
            <a:ext cx="7493000" cy="381000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Finance, activities, and operational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92CE9-C33F-455F-B880-4F3902A0D70A}"/>
              </a:ext>
            </a:extLst>
          </p:cNvPr>
          <p:cNvSpPr txBox="1"/>
          <p:nvPr/>
        </p:nvSpPr>
        <p:spPr>
          <a:xfrm>
            <a:off x="533400" y="1092200"/>
            <a:ext cx="8128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200">
                <a:solidFill>
                  <a:srgbClr val="59685B"/>
                </a:solidFill>
                <a:latin typeface="Aptos"/>
              </a:rPr>
              <a:t>The repo contains a fuller finance layer than a basic billing module.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599AB9-AED2-4CC8-A84C-D233C76C3A43}"/>
              </a:ext>
            </a:extLst>
          </p:cNvPr>
          <p:cNvSpPr/>
          <p:nvPr/>
        </p:nvSpPr>
        <p:spPr>
          <a:xfrm>
            <a:off x="533400" y="1727200"/>
            <a:ext cx="3429000" cy="177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59EE83-856E-476F-AE72-B3F9FBDDA81B}"/>
              </a:ext>
            </a:extLst>
          </p:cNvPr>
          <p:cNvSpPr/>
          <p:nvPr/>
        </p:nvSpPr>
        <p:spPr>
          <a:xfrm>
            <a:off x="762000" y="1955800"/>
            <a:ext cx="431800" cy="762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806F6-1C2A-488A-8226-BBF1494F4534}"/>
              </a:ext>
            </a:extLst>
          </p:cNvPr>
          <p:cNvSpPr txBox="1"/>
          <p:nvPr/>
        </p:nvSpPr>
        <p:spPr>
          <a:xfrm>
            <a:off x="762000" y="2082800"/>
            <a:ext cx="2971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Family billing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D381F-80B8-4E2B-8FC7-9EC5C9057BEB}"/>
              </a:ext>
            </a:extLst>
          </p:cNvPr>
          <p:cNvSpPr txBox="1"/>
          <p:nvPr/>
        </p:nvSpPr>
        <p:spPr>
          <a:xfrm>
            <a:off x="762000" y="2438400"/>
            <a:ext cx="2971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Invoices, invoice items, payments, printable receipts, and invoice status tracking.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D6B280-FCE9-454F-864E-1D26DE8E595E}"/>
              </a:ext>
            </a:extLst>
          </p:cNvPr>
          <p:cNvSpPr/>
          <p:nvPr/>
        </p:nvSpPr>
        <p:spPr>
          <a:xfrm>
            <a:off x="4343400" y="1727200"/>
            <a:ext cx="3429000" cy="177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B696EA2-5EB6-473C-9638-C09EFAAF6AC3}"/>
              </a:ext>
            </a:extLst>
          </p:cNvPr>
          <p:cNvSpPr/>
          <p:nvPr/>
        </p:nvSpPr>
        <p:spPr>
          <a:xfrm>
            <a:off x="4572000" y="1955800"/>
            <a:ext cx="431800" cy="76200"/>
          </a:xfrm>
          <a:prstGeom prst="roundRect">
            <a:avLst/>
          </a:prstGeom>
          <a:solidFill>
            <a:srgbClr val="0B8F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7A8ADC-C435-4EFB-92F1-48E070565569}"/>
              </a:ext>
            </a:extLst>
          </p:cNvPr>
          <p:cNvSpPr txBox="1"/>
          <p:nvPr/>
        </p:nvSpPr>
        <p:spPr>
          <a:xfrm>
            <a:off x="4572000" y="2082800"/>
            <a:ext cx="2971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Activity finance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8A573-88F9-43C8-A3A4-142C3F5533D2}"/>
              </a:ext>
            </a:extLst>
          </p:cNvPr>
          <p:cNvSpPr txBox="1"/>
          <p:nvPr/>
        </p:nvSpPr>
        <p:spPr>
          <a:xfrm>
            <a:off x="4572000" y="2438400"/>
            <a:ext cx="2971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Registrations, fee collection, expense tracking, and expected versus collected revenue.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75689E-60CE-4E4B-98C5-4F5A1EC81D3B}"/>
              </a:ext>
            </a:extLst>
          </p:cNvPr>
          <p:cNvSpPr/>
          <p:nvPr/>
        </p:nvSpPr>
        <p:spPr>
          <a:xfrm>
            <a:off x="8153400" y="1727200"/>
            <a:ext cx="3479800" cy="177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7AB0DB2-405E-4E14-BCE2-69BC3F75B202}"/>
              </a:ext>
            </a:extLst>
          </p:cNvPr>
          <p:cNvSpPr/>
          <p:nvPr/>
        </p:nvSpPr>
        <p:spPr>
          <a:xfrm>
            <a:off x="8382000" y="1955800"/>
            <a:ext cx="431800" cy="76200"/>
          </a:xfrm>
          <a:prstGeom prst="round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6764AC-74F2-4C69-8F73-B8A4445D2A32}"/>
              </a:ext>
            </a:extLst>
          </p:cNvPr>
          <p:cNvSpPr txBox="1"/>
          <p:nvPr/>
        </p:nvSpPr>
        <p:spPr>
          <a:xfrm>
            <a:off x="8382000" y="20828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Request workflows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3477FF-B42F-45D5-A1AB-E365E2CC4BF3}"/>
              </a:ext>
            </a:extLst>
          </p:cNvPr>
          <p:cNvSpPr txBox="1"/>
          <p:nvPr/>
        </p:nvSpPr>
        <p:spPr>
          <a:xfrm>
            <a:off x="8382000" y="24384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Pull requests, expense requests, revenue requests, review actions, posting, and settlement.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690B0BC-0112-47B0-A205-EA6D5D08F59C}"/>
              </a:ext>
            </a:extLst>
          </p:cNvPr>
          <p:cNvSpPr/>
          <p:nvPr/>
        </p:nvSpPr>
        <p:spPr>
          <a:xfrm>
            <a:off x="533400" y="3810000"/>
            <a:ext cx="3429000" cy="177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BDAC8E8-E263-4AA0-A583-303E3ACDC8D1}"/>
              </a:ext>
            </a:extLst>
          </p:cNvPr>
          <p:cNvSpPr/>
          <p:nvPr/>
        </p:nvSpPr>
        <p:spPr>
          <a:xfrm>
            <a:off x="762000" y="4038600"/>
            <a:ext cx="431800" cy="762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748596-6212-4EE7-BC8A-5D096AB98696}"/>
              </a:ext>
            </a:extLst>
          </p:cNvPr>
          <p:cNvSpPr txBox="1"/>
          <p:nvPr/>
        </p:nvSpPr>
        <p:spPr>
          <a:xfrm>
            <a:off x="762000" y="4165600"/>
            <a:ext cx="2971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Cash 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72212A-3763-4003-A095-21DB901997BC}"/>
              </a:ext>
            </a:extLst>
          </p:cNvPr>
          <p:cNvSpPr txBox="1"/>
          <p:nvPr/>
        </p:nvSpPr>
        <p:spPr>
          <a:xfrm>
            <a:off x="762000" y="4521200"/>
            <a:ext cx="2971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Cash boxes, assigned currencies, transfers between boxes, and non-negative balance safeguards.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18BED78-72B2-44EB-A16D-6A168AD8ED5D}"/>
              </a:ext>
            </a:extLst>
          </p:cNvPr>
          <p:cNvSpPr/>
          <p:nvPr/>
        </p:nvSpPr>
        <p:spPr>
          <a:xfrm>
            <a:off x="4343400" y="3810000"/>
            <a:ext cx="3429000" cy="177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9036B47-26A9-4E41-A1BF-7DD54C609934}"/>
              </a:ext>
            </a:extLst>
          </p:cNvPr>
          <p:cNvSpPr/>
          <p:nvPr/>
        </p:nvSpPr>
        <p:spPr>
          <a:xfrm>
            <a:off x="4572000" y="4038600"/>
            <a:ext cx="431800" cy="76200"/>
          </a:xfrm>
          <a:prstGeom prst="roundRect">
            <a:avLst/>
          </a:prstGeom>
          <a:solidFill>
            <a:srgbClr val="0B8F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264C87-9205-4F06-91E7-B00E0AA1F7D9}"/>
              </a:ext>
            </a:extLst>
          </p:cNvPr>
          <p:cNvSpPr txBox="1"/>
          <p:nvPr/>
        </p:nvSpPr>
        <p:spPr>
          <a:xfrm>
            <a:off x="4572000" y="4165600"/>
            <a:ext cx="2971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Multi-currency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8E1CE9-43B0-4E15-AA21-C0F454DC957B}"/>
              </a:ext>
            </a:extLst>
          </p:cNvPr>
          <p:cNvSpPr txBox="1"/>
          <p:nvPr/>
        </p:nvSpPr>
        <p:spPr>
          <a:xfrm>
            <a:off x="4572000" y="4521200"/>
            <a:ext cx="2971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Currency rates, base and local equivalents, and exchange transactions with audit trails.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1FFFA22-B3A6-4801-ABEF-2282AAFFCC32}"/>
              </a:ext>
            </a:extLst>
          </p:cNvPr>
          <p:cNvSpPr/>
          <p:nvPr/>
        </p:nvSpPr>
        <p:spPr>
          <a:xfrm>
            <a:off x="8153400" y="3810000"/>
            <a:ext cx="3479800" cy="177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6102DF3-7283-405F-BCEE-6F44E256E3C9}"/>
              </a:ext>
            </a:extLst>
          </p:cNvPr>
          <p:cNvSpPr/>
          <p:nvPr/>
        </p:nvSpPr>
        <p:spPr>
          <a:xfrm>
            <a:off x="8382000" y="4038600"/>
            <a:ext cx="431800" cy="76200"/>
          </a:xfrm>
          <a:prstGeom prst="round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62CDF1-D98D-4F02-8FED-061775C7C07E}"/>
              </a:ext>
            </a:extLst>
          </p:cNvPr>
          <p:cNvSpPr txBox="1"/>
          <p:nvPr/>
        </p:nvSpPr>
        <p:spPr>
          <a:xfrm>
            <a:off x="8382000" y="41656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Operational tools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8669C7-7817-4665-9C86-DEBD91FA1A56}"/>
              </a:ext>
            </a:extLst>
          </p:cNvPr>
          <p:cNvSpPr txBox="1"/>
          <p:nvPr/>
        </p:nvSpPr>
        <p:spPr>
          <a:xfrm>
            <a:off x="8382000" y="4521200"/>
            <a:ext cx="30226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Reports, exports, barcodes, print templates, and ID card generation for front-desk workflows.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E3E978-F0A1-4EE7-A2FB-B28DBF05A733}"/>
              </a:ext>
            </a:extLst>
          </p:cNvPr>
          <p:cNvSpPr txBox="1"/>
          <p:nvPr/>
        </p:nvSpPr>
        <p:spPr>
          <a:xfrm>
            <a:off x="533400" y="6438900"/>
            <a:ext cx="5334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900">
                <a:solidFill>
                  <a:srgbClr val="59685B"/>
                </a:solidFill>
                <a:latin typeface="Aptos"/>
              </a:rPr>
              <a:t>Generated from the current AlKhairPhp codebase | 2026-05-14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D2B67C-50D1-4005-9125-B70DFD9E4CA0}"/>
              </a:ext>
            </a:extLst>
          </p:cNvPr>
          <p:cNvSpPr txBox="1"/>
          <p:nvPr/>
        </p:nvSpPr>
        <p:spPr>
          <a:xfrm>
            <a:off x="10668000" y="6426200"/>
            <a:ext cx="101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r"/>
            <a:r>
              <a:rPr lang="en-US" sz="1000">
                <a:solidFill>
                  <a:srgbClr val="006B2D"/>
                </a:solidFill>
                <a:latin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271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01B873-D028-4F32-8553-FF804E4BD4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ADF149-7B34-4D4C-B78A-01C63BF1828F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0047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6A664-41CB-4B20-BABA-2BEA44D5371B}"/>
              </a:ext>
            </a:extLst>
          </p:cNvPr>
          <p:cNvSpPr/>
          <p:nvPr/>
        </p:nvSpPr>
        <p:spPr>
          <a:xfrm>
            <a:off x="0" y="939800"/>
            <a:ext cx="12192000" cy="101600"/>
          </a:xfrm>
          <a:prstGeom prst="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6A300A-A95E-4C7B-8F6C-9C8144655CE8}"/>
              </a:ext>
            </a:extLst>
          </p:cNvPr>
          <p:cNvSpPr/>
          <p:nvPr/>
        </p:nvSpPr>
        <p:spPr>
          <a:xfrm>
            <a:off x="9601200" y="330200"/>
            <a:ext cx="1981200" cy="279400"/>
          </a:xfrm>
          <a:prstGeom prst="roundRect">
            <a:avLst/>
          </a:prstGeom>
          <a:solidFill>
            <a:srgbClr val="0B8F43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BAC99-ED94-40CC-A20C-547EE4190292}"/>
              </a:ext>
            </a:extLst>
          </p:cNvPr>
          <p:cNvSpPr txBox="1"/>
          <p:nvPr/>
        </p:nvSpPr>
        <p:spPr>
          <a:xfrm>
            <a:off x="533400" y="228600"/>
            <a:ext cx="228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00">
                <a:solidFill>
                  <a:srgbClr val="E8F2EC"/>
                </a:solidFill>
                <a:latin typeface="Aptos"/>
              </a:rPr>
              <a:t>Access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AAFF4-8EC1-45D6-88EB-63966CD65F11}"/>
              </a:ext>
            </a:extLst>
          </p:cNvPr>
          <p:cNvSpPr txBox="1"/>
          <p:nvPr/>
        </p:nvSpPr>
        <p:spPr>
          <a:xfrm>
            <a:off x="533400" y="381000"/>
            <a:ext cx="7493000" cy="381000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Who uses the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ADE05-276A-4FFE-A760-C36E61DA65C7}"/>
              </a:ext>
            </a:extLst>
          </p:cNvPr>
          <p:cNvSpPr txBox="1"/>
          <p:nvPr/>
        </p:nvSpPr>
        <p:spPr>
          <a:xfrm>
            <a:off x="533400" y="1092200"/>
            <a:ext cx="8128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200">
                <a:solidFill>
                  <a:srgbClr val="59685B"/>
                </a:solidFill>
                <a:latin typeface="Aptos"/>
              </a:rPr>
              <a:t>Dashboards and access are role-based, with scoped permissions in both web and API flows.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D68459-7DBD-4F17-989E-4BBCD9723A12}"/>
              </a:ext>
            </a:extLst>
          </p:cNvPr>
          <p:cNvSpPr/>
          <p:nvPr/>
        </p:nvSpPr>
        <p:spPr>
          <a:xfrm>
            <a:off x="533400" y="1879600"/>
            <a:ext cx="25400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1EBA6A-D474-4D36-B109-1781BB1489FE}"/>
              </a:ext>
            </a:extLst>
          </p:cNvPr>
          <p:cNvSpPr/>
          <p:nvPr/>
        </p:nvSpPr>
        <p:spPr>
          <a:xfrm>
            <a:off x="762000" y="2108200"/>
            <a:ext cx="431800" cy="762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BA9B9-D1C4-44FC-9C58-74A4DB263159}"/>
              </a:ext>
            </a:extLst>
          </p:cNvPr>
          <p:cNvSpPr txBox="1"/>
          <p:nvPr/>
        </p:nvSpPr>
        <p:spPr>
          <a:xfrm>
            <a:off x="762000" y="2235200"/>
            <a:ext cx="2082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Admin / Manager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4208D7-A028-4900-B85F-A4BD3575D819}"/>
              </a:ext>
            </a:extLst>
          </p:cNvPr>
          <p:cNvSpPr txBox="1"/>
          <p:nvPr/>
        </p:nvSpPr>
        <p:spPr>
          <a:xfrm>
            <a:off x="762000" y="2590800"/>
            <a:ext cx="2082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Full operational visibility.</a:t>
            </a:r>
          </a:p>
          <a:p>
            <a:endParaRPr lang="en-US" sz="1150">
              <a:solidFill>
                <a:srgbClr val="59685B"/>
              </a:solidFill>
              <a:latin typeface="Aptos"/>
            </a:endParaRPr>
          </a:p>
          <a:p>
            <a:r>
              <a:rPr lang="en-US" sz="1150">
                <a:solidFill>
                  <a:srgbClr val="59685B"/>
                </a:solidFill>
                <a:latin typeface="Aptos"/>
              </a:rPr>
              <a:t>Manages people, settings, reports, finance, and system-wide workflows.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5259B2-A4DD-48ED-AB5F-2714B49CC09D}"/>
              </a:ext>
            </a:extLst>
          </p:cNvPr>
          <p:cNvSpPr/>
          <p:nvPr/>
        </p:nvSpPr>
        <p:spPr>
          <a:xfrm>
            <a:off x="3403600" y="1879600"/>
            <a:ext cx="25400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A132FA-8837-435D-913E-DE6157BF511D}"/>
              </a:ext>
            </a:extLst>
          </p:cNvPr>
          <p:cNvSpPr/>
          <p:nvPr/>
        </p:nvSpPr>
        <p:spPr>
          <a:xfrm>
            <a:off x="3632200" y="2108200"/>
            <a:ext cx="431800" cy="76200"/>
          </a:xfrm>
          <a:prstGeom prst="roundRect">
            <a:avLst/>
          </a:prstGeom>
          <a:solidFill>
            <a:srgbClr val="0B8F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54F615-CC33-4E2E-B037-28C2B67BBBF8}"/>
              </a:ext>
            </a:extLst>
          </p:cNvPr>
          <p:cNvSpPr txBox="1"/>
          <p:nvPr/>
        </p:nvSpPr>
        <p:spPr>
          <a:xfrm>
            <a:off x="3632200" y="2235200"/>
            <a:ext cx="2082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Teacher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A2E619-3F46-4D87-BFAA-3C2652CCE62F}"/>
              </a:ext>
            </a:extLst>
          </p:cNvPr>
          <p:cNvSpPr txBox="1"/>
          <p:nvPr/>
        </p:nvSpPr>
        <p:spPr>
          <a:xfrm>
            <a:off x="3632200" y="2590800"/>
            <a:ext cx="2082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Works on assigned groups.</a:t>
            </a:r>
          </a:p>
          <a:p>
            <a:endParaRPr lang="en-US" sz="1150">
              <a:solidFill>
                <a:srgbClr val="59685B"/>
              </a:solidFill>
              <a:latin typeface="Aptos"/>
            </a:endParaRPr>
          </a:p>
          <a:p>
            <a:r>
              <a:rPr lang="en-US" sz="1150">
                <a:solidFill>
                  <a:srgbClr val="59685B"/>
                </a:solidFill>
                <a:latin typeface="Aptos"/>
              </a:rPr>
              <a:t>Records attendance, memorization, Quran tests, assessments, and internal notes.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97D42C-76BD-43FC-B495-79C3B15DE954}"/>
              </a:ext>
            </a:extLst>
          </p:cNvPr>
          <p:cNvSpPr/>
          <p:nvPr/>
        </p:nvSpPr>
        <p:spPr>
          <a:xfrm>
            <a:off x="6273800" y="1879600"/>
            <a:ext cx="25400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6E4B51-BD42-44F1-AACB-BFF38C79D5EE}"/>
              </a:ext>
            </a:extLst>
          </p:cNvPr>
          <p:cNvSpPr/>
          <p:nvPr/>
        </p:nvSpPr>
        <p:spPr>
          <a:xfrm>
            <a:off x="6502400" y="2108200"/>
            <a:ext cx="431800" cy="76200"/>
          </a:xfrm>
          <a:prstGeom prst="round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811722-E027-4923-9496-35CDFC6A92AF}"/>
              </a:ext>
            </a:extLst>
          </p:cNvPr>
          <p:cNvSpPr txBox="1"/>
          <p:nvPr/>
        </p:nvSpPr>
        <p:spPr>
          <a:xfrm>
            <a:off x="6502400" y="2235200"/>
            <a:ext cx="2082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Parent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B4E4E4-083F-45EB-9DD5-D2E6804F58BF}"/>
              </a:ext>
            </a:extLst>
          </p:cNvPr>
          <p:cNvSpPr txBox="1"/>
          <p:nvPr/>
        </p:nvSpPr>
        <p:spPr>
          <a:xfrm>
            <a:off x="6502400" y="2590800"/>
            <a:ext cx="20828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Views family-facing data.</a:t>
            </a:r>
          </a:p>
          <a:p>
            <a:endParaRPr lang="en-US" sz="1150">
              <a:solidFill>
                <a:srgbClr val="59685B"/>
              </a:solidFill>
              <a:latin typeface="Aptos"/>
            </a:endParaRPr>
          </a:p>
          <a:p>
            <a:r>
              <a:rPr lang="en-US" sz="1150">
                <a:solidFill>
                  <a:srgbClr val="59685B"/>
                </a:solidFill>
                <a:latin typeface="Aptos"/>
              </a:rPr>
              <a:t>Follows student progress, enrollments, activities, invoices, and payments.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0AC512-02E2-4C11-9A7F-39E78529353D}"/>
              </a:ext>
            </a:extLst>
          </p:cNvPr>
          <p:cNvSpPr/>
          <p:nvPr/>
        </p:nvSpPr>
        <p:spPr>
          <a:xfrm>
            <a:off x="9144000" y="1879600"/>
            <a:ext cx="24892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40FD150-724F-4DD7-80F7-ED6873194A19}"/>
              </a:ext>
            </a:extLst>
          </p:cNvPr>
          <p:cNvSpPr/>
          <p:nvPr/>
        </p:nvSpPr>
        <p:spPr>
          <a:xfrm>
            <a:off x="9372600" y="2108200"/>
            <a:ext cx="431800" cy="76200"/>
          </a:xfrm>
          <a:prstGeom prst="roundRect">
            <a:avLst/>
          </a:prstGeom>
          <a:solidFill>
            <a:srgbClr val="006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5FA0C9-B2BA-4A6D-84C3-C47DEC7520BB}"/>
              </a:ext>
            </a:extLst>
          </p:cNvPr>
          <p:cNvSpPr txBox="1"/>
          <p:nvPr/>
        </p:nvSpPr>
        <p:spPr>
          <a:xfrm>
            <a:off x="9372600" y="2235200"/>
            <a:ext cx="2032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500" b="1">
                <a:solidFill>
                  <a:srgbClr val="223022"/>
                </a:solidFill>
                <a:latin typeface="Bahnschrift SemiBold" panose="020B0502040204020203" pitchFamily="34" charset="0"/>
              </a:rPr>
              <a:t>Student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299CE1-0198-4FBD-9B23-D3DC23CFB5F0}"/>
              </a:ext>
            </a:extLst>
          </p:cNvPr>
          <p:cNvSpPr txBox="1"/>
          <p:nvPr/>
        </p:nvSpPr>
        <p:spPr>
          <a:xfrm>
            <a:off x="9372600" y="2590800"/>
            <a:ext cx="2032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150">
                <a:solidFill>
                  <a:srgbClr val="59685B"/>
                </a:solidFill>
                <a:latin typeface="Aptos"/>
              </a:rPr>
              <a:t>Uses a personal dashboard.</a:t>
            </a:r>
          </a:p>
          <a:p>
            <a:endParaRPr lang="en-US" sz="1150">
              <a:solidFill>
                <a:srgbClr val="59685B"/>
              </a:solidFill>
              <a:latin typeface="Aptos"/>
            </a:endParaRPr>
          </a:p>
          <a:p>
            <a:r>
              <a:rPr lang="en-US" sz="1150">
                <a:solidFill>
                  <a:srgbClr val="59685B"/>
                </a:solidFill>
                <a:latin typeface="Aptos"/>
              </a:rPr>
              <a:t>Sees personal learning progress, points, attendance, and active enrollments.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E55C7D-8D1A-4C40-93D8-CF4772E781C0}"/>
              </a:ext>
            </a:extLst>
          </p:cNvPr>
          <p:cNvSpPr/>
          <p:nvPr/>
        </p:nvSpPr>
        <p:spPr>
          <a:xfrm>
            <a:off x="533400" y="5359400"/>
            <a:ext cx="11099800" cy="533400"/>
          </a:xfrm>
          <a:prstGeom prst="roundRect">
            <a:avLst/>
          </a:prstGeom>
          <a:solidFill>
            <a:srgbClr val="E8F2EC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0AE79B-BAC5-4743-ACE2-CF2F7F400D4F}"/>
              </a:ext>
            </a:extLst>
          </p:cNvPr>
          <p:cNvSpPr txBox="1"/>
          <p:nvPr/>
        </p:nvSpPr>
        <p:spPr>
          <a:xfrm>
            <a:off x="762000" y="5499100"/>
            <a:ext cx="10668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200">
                <a:solidFill>
                  <a:srgbClr val="223022"/>
                </a:solidFill>
                <a:latin typeface="Aptos"/>
              </a:rPr>
              <a:t>The API also uses token-based authentication with permission checks, so integrations follow the same access model.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5A5380-2A44-481D-AD21-05CC7E1A5B90}"/>
              </a:ext>
            </a:extLst>
          </p:cNvPr>
          <p:cNvSpPr txBox="1"/>
          <p:nvPr/>
        </p:nvSpPr>
        <p:spPr>
          <a:xfrm>
            <a:off x="533400" y="6438900"/>
            <a:ext cx="5334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900">
                <a:solidFill>
                  <a:srgbClr val="59685B"/>
                </a:solidFill>
                <a:latin typeface="Aptos"/>
              </a:rPr>
              <a:t>Generated from the current AlKhairPhp codebase | 2026-05-14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A6F8A6-E945-49C5-B070-EB64B012CE09}"/>
              </a:ext>
            </a:extLst>
          </p:cNvPr>
          <p:cNvSpPr txBox="1"/>
          <p:nvPr/>
        </p:nvSpPr>
        <p:spPr>
          <a:xfrm>
            <a:off x="10668000" y="6426200"/>
            <a:ext cx="101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r"/>
            <a:r>
              <a:rPr lang="en-US" sz="1000">
                <a:solidFill>
                  <a:srgbClr val="006B2D"/>
                </a:solidFill>
                <a:latin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9805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909B7B-F308-4807-A419-E9765771B9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19A7B-5D06-4AFF-A6E5-C25E81E6C4A3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0047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F9460B-448A-406B-B67E-F51C4A813830}"/>
              </a:ext>
            </a:extLst>
          </p:cNvPr>
          <p:cNvSpPr/>
          <p:nvPr/>
        </p:nvSpPr>
        <p:spPr>
          <a:xfrm>
            <a:off x="0" y="939800"/>
            <a:ext cx="12192000" cy="101600"/>
          </a:xfrm>
          <a:prstGeom prst="rect">
            <a:avLst/>
          </a:prstGeom>
          <a:solidFill>
            <a:srgbClr val="BB97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9E1F74-2944-4B55-BBF4-DBDE661A4498}"/>
              </a:ext>
            </a:extLst>
          </p:cNvPr>
          <p:cNvSpPr/>
          <p:nvPr/>
        </p:nvSpPr>
        <p:spPr>
          <a:xfrm>
            <a:off x="9601200" y="330200"/>
            <a:ext cx="1981200" cy="279400"/>
          </a:xfrm>
          <a:prstGeom prst="roundRect">
            <a:avLst/>
          </a:prstGeom>
          <a:solidFill>
            <a:srgbClr val="0B8F43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75B01-27AD-42FD-B37C-50FE8622D53C}"/>
              </a:ext>
            </a:extLst>
          </p:cNvPr>
          <p:cNvSpPr txBox="1"/>
          <p:nvPr/>
        </p:nvSpPr>
        <p:spPr>
          <a:xfrm>
            <a:off x="533400" y="228600"/>
            <a:ext cx="228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000">
                <a:solidFill>
                  <a:srgbClr val="E8F2EC"/>
                </a:solidFill>
                <a:latin typeface="Aptos"/>
              </a:rPr>
              <a:t>Close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6470C-89D7-46B4-84A3-1A58744861C4}"/>
              </a:ext>
            </a:extLst>
          </p:cNvPr>
          <p:cNvSpPr txBox="1"/>
          <p:nvPr/>
        </p:nvSpPr>
        <p:spPr>
          <a:xfrm>
            <a:off x="533400" y="381000"/>
            <a:ext cx="7493000" cy="381000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Suggested demo path and final message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37EC7-7A98-4595-90B2-28356A969E30}"/>
              </a:ext>
            </a:extLst>
          </p:cNvPr>
          <p:cNvSpPr txBox="1"/>
          <p:nvPr/>
        </p:nvSpPr>
        <p:spPr>
          <a:xfrm>
            <a:off x="533400" y="1092200"/>
            <a:ext cx="8128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200">
                <a:solidFill>
                  <a:srgbClr val="59685B"/>
                </a:solidFill>
                <a:latin typeface="Aptos"/>
              </a:rPr>
              <a:t>Use this order if you want to walk stakeholders through the app live after the presentation.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227243-7D5A-4303-9904-10D36F4D062E}"/>
              </a:ext>
            </a:extLst>
          </p:cNvPr>
          <p:cNvSpPr/>
          <p:nvPr/>
        </p:nvSpPr>
        <p:spPr>
          <a:xfrm>
            <a:off x="533400" y="1778000"/>
            <a:ext cx="55626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CD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3D3D2F-E309-4D4A-A530-10C0605127CF}"/>
              </a:ext>
            </a:extLst>
          </p:cNvPr>
          <p:cNvSpPr txBox="1"/>
          <p:nvPr/>
        </p:nvSpPr>
        <p:spPr>
          <a:xfrm>
            <a:off x="812800" y="2082800"/>
            <a:ext cx="4953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1400">
                <a:solidFill>
                  <a:srgbClr val="223022"/>
                </a:solidFill>
                <a:latin typeface="Aptos"/>
              </a:rPr>
              <a:t>Recommended demo flow:</a:t>
            </a:r>
          </a:p>
          <a:p>
            <a:endParaRPr lang="en-US" sz="1400">
              <a:solidFill>
                <a:srgbClr val="223022"/>
              </a:solidFill>
              <a:latin typeface="Aptos"/>
            </a:endParaRP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1. Dashboard and role-based navigation</a:t>
            </a: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2. Students and parent records</a:t>
            </a: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3. Groups and enrollments</a:t>
            </a: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4. Memorization and Quran tests</a:t>
            </a: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5. Attendance and points</a:t>
            </a: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6. Invoices, payments, and finance reports</a:t>
            </a:r>
          </a:p>
          <a:p>
            <a:r>
              <a:rPr lang="en-US" sz="1400">
                <a:solidFill>
                  <a:srgbClr val="223022"/>
                </a:solidFill>
                <a:latin typeface="Aptos"/>
              </a:rPr>
              <a:t>7. Website or API integration screens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5CD00E-4CDE-4E9A-88E2-7B18CAB8761B}"/>
              </a:ext>
            </a:extLst>
          </p:cNvPr>
          <p:cNvSpPr/>
          <p:nvPr/>
        </p:nvSpPr>
        <p:spPr>
          <a:xfrm>
            <a:off x="6477000" y="1778000"/>
            <a:ext cx="5156200" cy="3937000"/>
          </a:xfrm>
          <a:prstGeom prst="roundRect">
            <a:avLst/>
          </a:prstGeom>
          <a:solidFill>
            <a:srgbClr val="00471F"/>
          </a:solidFill>
          <a:ln w="12700" cap="flat" cmpd="sng" algn="ctr">
            <a:solidFill>
              <a:srgbClr val="00471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7CF51A-EDC6-44FE-902B-6D6087B0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714" y="2801714"/>
            <a:ext cx="543372" cy="5433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CB236B-D1F7-4E19-9DFC-5D4FA8E720CF}"/>
              </a:ext>
            </a:extLst>
          </p:cNvPr>
          <p:cNvSpPr txBox="1"/>
          <p:nvPr/>
        </p:nvSpPr>
        <p:spPr>
          <a:xfrm>
            <a:off x="6908800" y="4191000"/>
            <a:ext cx="4318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/>
              </a:rPr>
              <a:t>Main takeaway: AlKhair App is the operational backbone for a Quran learning organization, combining education tracking, community workflows, and finance in one system.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A468E8-3C4A-48EE-B2E7-FDBABF149808}"/>
              </a:ext>
            </a:extLst>
          </p:cNvPr>
          <p:cNvSpPr txBox="1"/>
          <p:nvPr/>
        </p:nvSpPr>
        <p:spPr>
          <a:xfrm>
            <a:off x="533400" y="6438900"/>
            <a:ext cx="5334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r>
              <a:rPr lang="en-US" sz="900">
                <a:solidFill>
                  <a:srgbClr val="59685B"/>
                </a:solidFill>
                <a:latin typeface="Aptos"/>
              </a:rPr>
              <a:t>Generated from the current AlKhairPhp codebase | 2026-05-14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1E20D5-6700-4BD5-A76C-690D6255F5E2}"/>
              </a:ext>
            </a:extLst>
          </p:cNvPr>
          <p:cNvSpPr txBox="1"/>
          <p:nvPr/>
        </p:nvSpPr>
        <p:spPr>
          <a:xfrm>
            <a:off x="10668000" y="6426200"/>
            <a:ext cx="1016000" cy="379591"/>
          </a:xfrm>
          <a:prstGeom prst="rect">
            <a:avLst/>
          </a:prstGeom>
          <a:noFill/>
        </p:spPr>
        <p:txBody>
          <a:bodyPr vert="horz" wrap="square" lIns="50800" tIns="50800" rIns="50800" bIns="50800" rtlCol="0">
            <a:noAutofit/>
          </a:bodyPr>
          <a:lstStyle/>
          <a:p>
            <a:pPr algn="r"/>
            <a:r>
              <a:rPr lang="en-US" sz="1000">
                <a:solidFill>
                  <a:srgbClr val="006B2D"/>
                </a:solidFill>
                <a:latin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8442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</Words>
  <Application>Microsoft Office PowerPoint</Application>
  <PresentationFormat>Custom</PresentationFormat>
  <Paragraphs>143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yazan hamwi</dc:creator>
  <cp:lastModifiedBy>yazan hamwi</cp:lastModifiedBy>
  <cp:revision>1</cp:revision>
  <dcterms:created xsi:type="dcterms:W3CDTF">2026-05-14T11:49:21Z</dcterms:created>
  <dcterms:modified xsi:type="dcterms:W3CDTF">2026-05-14T11:49:21Z</dcterms:modified>
</cp:coreProperties>
</file>